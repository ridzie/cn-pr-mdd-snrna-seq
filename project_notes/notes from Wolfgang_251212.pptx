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272" r:id="rId3"/>
    <p:sldId id="278" r:id="rId4"/>
    <p:sldId id="277" r:id="rId5"/>
    <p:sldId id="273" r:id="rId6"/>
    <p:sldId id="282" r:id="rId7"/>
    <p:sldId id="265" r:id="rId8"/>
    <p:sldId id="264" r:id="rId9"/>
    <p:sldId id="267" r:id="rId10"/>
    <p:sldId id="269" r:id="rId11"/>
    <p:sldId id="270" r:id="rId12"/>
    <p:sldId id="271" r:id="rId13"/>
    <p:sldId id="283" r:id="rId14"/>
    <p:sldId id="275" r:id="rId15"/>
    <p:sldId id="276" r:id="rId16"/>
    <p:sldId id="280" r:id="rId17"/>
    <p:sldId id="281"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2" d="100"/>
          <a:sy n="82" d="100"/>
        </p:scale>
        <p:origin x="672"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lfgang Pell" userId="226c0ae47ee88382" providerId="LiveId" clId="{56CEDA30-0B55-4F9F-823B-647C939FE70D}"/>
    <pc:docChg chg="undo redo custSel addSld delSld modSld sldOrd">
      <pc:chgData name="Wolfgang Pell" userId="226c0ae47ee88382" providerId="LiveId" clId="{56CEDA30-0B55-4F9F-823B-647C939FE70D}" dt="2025-12-16T13:52:35.473" v="3180" actId="114"/>
      <pc:docMkLst>
        <pc:docMk/>
      </pc:docMkLst>
      <pc:sldChg chg="modSp mod ord">
        <pc:chgData name="Wolfgang Pell" userId="226c0ae47ee88382" providerId="LiveId" clId="{56CEDA30-0B55-4F9F-823B-647C939FE70D}" dt="2025-12-12T12:21:11.057" v="1310" actId="6549"/>
        <pc:sldMkLst>
          <pc:docMk/>
          <pc:sldMk cId="2656809120" sldId="264"/>
        </pc:sldMkLst>
        <pc:spChg chg="mod">
          <ac:chgData name="Wolfgang Pell" userId="226c0ae47ee88382" providerId="LiveId" clId="{56CEDA30-0B55-4F9F-823B-647C939FE70D}" dt="2025-12-12T12:21:11.057" v="1310" actId="6549"/>
          <ac:spMkLst>
            <pc:docMk/>
            <pc:sldMk cId="2656809120" sldId="264"/>
            <ac:spMk id="3" creationId="{2AB4CC36-73DF-EC47-4361-2F3B202B77D8}"/>
          </ac:spMkLst>
        </pc:spChg>
      </pc:sldChg>
      <pc:sldChg chg="modSp add mod ord">
        <pc:chgData name="Wolfgang Pell" userId="226c0ae47ee88382" providerId="LiveId" clId="{56CEDA30-0B55-4F9F-823B-647C939FE70D}" dt="2025-12-12T18:17:23.628" v="1767"/>
        <pc:sldMkLst>
          <pc:docMk/>
          <pc:sldMk cId="2659187078" sldId="265"/>
        </pc:sldMkLst>
        <pc:spChg chg="mod">
          <ac:chgData name="Wolfgang Pell" userId="226c0ae47ee88382" providerId="LiveId" clId="{56CEDA30-0B55-4F9F-823B-647C939FE70D}" dt="2025-12-12T18:17:23.628" v="1767"/>
          <ac:spMkLst>
            <pc:docMk/>
            <pc:sldMk cId="2659187078" sldId="265"/>
            <ac:spMk id="3" creationId="{298A7C84-91BA-CBFB-95F4-8EE094CB59ED}"/>
          </ac:spMkLst>
        </pc:spChg>
      </pc:sldChg>
      <pc:sldChg chg="modSp add mod ord">
        <pc:chgData name="Wolfgang Pell" userId="226c0ae47ee88382" providerId="LiveId" clId="{56CEDA30-0B55-4F9F-823B-647C939FE70D}" dt="2025-12-12T18:17:33.924" v="1768"/>
        <pc:sldMkLst>
          <pc:docMk/>
          <pc:sldMk cId="247388346" sldId="267"/>
        </pc:sldMkLst>
        <pc:spChg chg="mod">
          <ac:chgData name="Wolfgang Pell" userId="226c0ae47ee88382" providerId="LiveId" clId="{56CEDA30-0B55-4F9F-823B-647C939FE70D}" dt="2025-12-12T18:17:33.924" v="1768"/>
          <ac:spMkLst>
            <pc:docMk/>
            <pc:sldMk cId="247388346" sldId="267"/>
            <ac:spMk id="3" creationId="{198096E0-A85E-DC3B-D7FB-A66B1EDAFF5F}"/>
          </ac:spMkLst>
        </pc:spChg>
      </pc:sldChg>
      <pc:sldChg chg="modSp add mod">
        <pc:chgData name="Wolfgang Pell" userId="226c0ae47ee88382" providerId="LiveId" clId="{56CEDA30-0B55-4F9F-823B-647C939FE70D}" dt="2025-12-12T18:16:18.451" v="1734" actId="20577"/>
        <pc:sldMkLst>
          <pc:docMk/>
          <pc:sldMk cId="1784025170" sldId="269"/>
        </pc:sldMkLst>
        <pc:spChg chg="mod">
          <ac:chgData name="Wolfgang Pell" userId="226c0ae47ee88382" providerId="LiveId" clId="{56CEDA30-0B55-4F9F-823B-647C939FE70D}" dt="2025-12-12T18:16:18.451" v="1734" actId="20577"/>
          <ac:spMkLst>
            <pc:docMk/>
            <pc:sldMk cId="1784025170" sldId="269"/>
            <ac:spMk id="3" creationId="{CC147F4F-1E50-CB3A-149B-A9A7D10B2A96}"/>
          </ac:spMkLst>
        </pc:spChg>
      </pc:sldChg>
      <pc:sldChg chg="modSp add mod">
        <pc:chgData name="Wolfgang Pell" userId="226c0ae47ee88382" providerId="LiveId" clId="{56CEDA30-0B55-4F9F-823B-647C939FE70D}" dt="2025-12-12T18:16:53.170" v="1766" actId="313"/>
        <pc:sldMkLst>
          <pc:docMk/>
          <pc:sldMk cId="2891953975" sldId="270"/>
        </pc:sldMkLst>
        <pc:spChg chg="mod">
          <ac:chgData name="Wolfgang Pell" userId="226c0ae47ee88382" providerId="LiveId" clId="{56CEDA30-0B55-4F9F-823B-647C939FE70D}" dt="2025-12-12T18:16:53.170" v="1766" actId="313"/>
          <ac:spMkLst>
            <pc:docMk/>
            <pc:sldMk cId="2891953975" sldId="270"/>
            <ac:spMk id="3" creationId="{6F096D8A-78E7-F67C-58F4-56AE3EF4277E}"/>
          </ac:spMkLst>
        </pc:spChg>
      </pc:sldChg>
      <pc:sldChg chg="modSp add mod">
        <pc:chgData name="Wolfgang Pell" userId="226c0ae47ee88382" providerId="LiveId" clId="{56CEDA30-0B55-4F9F-823B-647C939FE70D}" dt="2025-12-12T18:17:51.081" v="1769"/>
        <pc:sldMkLst>
          <pc:docMk/>
          <pc:sldMk cId="3705489926" sldId="271"/>
        </pc:sldMkLst>
        <pc:spChg chg="mod">
          <ac:chgData name="Wolfgang Pell" userId="226c0ae47ee88382" providerId="LiveId" clId="{56CEDA30-0B55-4F9F-823B-647C939FE70D}" dt="2025-12-12T18:17:51.081" v="1769"/>
          <ac:spMkLst>
            <pc:docMk/>
            <pc:sldMk cId="3705489926" sldId="271"/>
            <ac:spMk id="3" creationId="{9BF7DF37-4F75-DE8A-DE1B-921E02E23CF6}"/>
          </ac:spMkLst>
        </pc:spChg>
      </pc:sldChg>
      <pc:sldChg chg="modSp add mod ord">
        <pc:chgData name="Wolfgang Pell" userId="226c0ae47ee88382" providerId="LiveId" clId="{56CEDA30-0B55-4F9F-823B-647C939FE70D}" dt="2025-12-12T18:23:23.638" v="1777" actId="113"/>
        <pc:sldMkLst>
          <pc:docMk/>
          <pc:sldMk cId="2987202583" sldId="272"/>
        </pc:sldMkLst>
        <pc:spChg chg="mod">
          <ac:chgData name="Wolfgang Pell" userId="226c0ae47ee88382" providerId="LiveId" clId="{56CEDA30-0B55-4F9F-823B-647C939FE70D}" dt="2025-12-12T18:23:23.638" v="1777" actId="113"/>
          <ac:spMkLst>
            <pc:docMk/>
            <pc:sldMk cId="2987202583" sldId="272"/>
            <ac:spMk id="3" creationId="{645CDBF8-AE18-AE6B-5CAA-2C22AABAB4CD}"/>
          </ac:spMkLst>
        </pc:spChg>
      </pc:sldChg>
      <pc:sldChg chg="addSp delSp modSp add mod ord">
        <pc:chgData name="Wolfgang Pell" userId="226c0ae47ee88382" providerId="LiveId" clId="{56CEDA30-0B55-4F9F-823B-647C939FE70D}" dt="2025-12-12T18:03:18.601" v="1581" actId="20577"/>
        <pc:sldMkLst>
          <pc:docMk/>
          <pc:sldMk cId="1710884773" sldId="273"/>
        </pc:sldMkLst>
        <pc:spChg chg="mod">
          <ac:chgData name="Wolfgang Pell" userId="226c0ae47ee88382" providerId="LiveId" clId="{56CEDA30-0B55-4F9F-823B-647C939FE70D}" dt="2025-12-12T18:03:18.601" v="1581" actId="20577"/>
          <ac:spMkLst>
            <pc:docMk/>
            <pc:sldMk cId="1710884773" sldId="273"/>
            <ac:spMk id="3" creationId="{F355ED40-3D67-F441-41AF-D62DDE8D8EC1}"/>
          </ac:spMkLst>
        </pc:spChg>
      </pc:sldChg>
      <pc:sldChg chg="modSp add mod">
        <pc:chgData name="Wolfgang Pell" userId="226c0ae47ee88382" providerId="LiveId" clId="{56CEDA30-0B55-4F9F-823B-647C939FE70D}" dt="2025-12-13T17:12:40.539" v="3144" actId="20577"/>
        <pc:sldMkLst>
          <pc:docMk/>
          <pc:sldMk cId="3882193260" sldId="275"/>
        </pc:sldMkLst>
        <pc:spChg chg="mod">
          <ac:chgData name="Wolfgang Pell" userId="226c0ae47ee88382" providerId="LiveId" clId="{56CEDA30-0B55-4F9F-823B-647C939FE70D}" dt="2025-12-13T17:12:40.539" v="3144" actId="20577"/>
          <ac:spMkLst>
            <pc:docMk/>
            <pc:sldMk cId="3882193260" sldId="275"/>
            <ac:spMk id="3" creationId="{A5ABE817-4FBE-A767-11AF-7FE9CCE75165}"/>
          </ac:spMkLst>
        </pc:spChg>
      </pc:sldChg>
      <pc:sldChg chg="modSp add mod">
        <pc:chgData name="Wolfgang Pell" userId="226c0ae47ee88382" providerId="LiveId" clId="{56CEDA30-0B55-4F9F-823B-647C939FE70D}" dt="2025-12-12T18:18:10.671" v="1772" actId="20577"/>
        <pc:sldMkLst>
          <pc:docMk/>
          <pc:sldMk cId="776291428" sldId="276"/>
        </pc:sldMkLst>
        <pc:spChg chg="mod">
          <ac:chgData name="Wolfgang Pell" userId="226c0ae47ee88382" providerId="LiveId" clId="{56CEDA30-0B55-4F9F-823B-647C939FE70D}" dt="2025-12-12T18:18:10.671" v="1772" actId="20577"/>
          <ac:spMkLst>
            <pc:docMk/>
            <pc:sldMk cId="776291428" sldId="276"/>
            <ac:spMk id="3" creationId="{AE704014-132F-B94A-D4E5-78D91489EB06}"/>
          </ac:spMkLst>
        </pc:spChg>
      </pc:sldChg>
      <pc:sldChg chg="modSp add mod">
        <pc:chgData name="Wolfgang Pell" userId="226c0ae47ee88382" providerId="LiveId" clId="{56CEDA30-0B55-4F9F-823B-647C939FE70D}" dt="2025-12-12T18:11:28.187" v="1667" actId="20577"/>
        <pc:sldMkLst>
          <pc:docMk/>
          <pc:sldMk cId="967226707" sldId="277"/>
        </pc:sldMkLst>
        <pc:spChg chg="mod">
          <ac:chgData name="Wolfgang Pell" userId="226c0ae47ee88382" providerId="LiveId" clId="{56CEDA30-0B55-4F9F-823B-647C939FE70D}" dt="2025-12-12T18:11:28.187" v="1667" actId="20577"/>
          <ac:spMkLst>
            <pc:docMk/>
            <pc:sldMk cId="967226707" sldId="277"/>
            <ac:spMk id="3" creationId="{7EEDB641-09C2-AD79-E4FA-53027E45F260}"/>
          </ac:spMkLst>
        </pc:spChg>
      </pc:sldChg>
      <pc:sldChg chg="add">
        <pc:chgData name="Wolfgang Pell" userId="226c0ae47ee88382" providerId="LiveId" clId="{56CEDA30-0B55-4F9F-823B-647C939FE70D}" dt="2025-12-12T18:22:51.168" v="1773" actId="2890"/>
        <pc:sldMkLst>
          <pc:docMk/>
          <pc:sldMk cId="2432001069" sldId="278"/>
        </pc:sldMkLst>
      </pc:sldChg>
      <pc:sldChg chg="modSp add mod">
        <pc:chgData name="Wolfgang Pell" userId="226c0ae47ee88382" providerId="LiveId" clId="{56CEDA30-0B55-4F9F-823B-647C939FE70D}" dt="2025-12-16T13:52:35.473" v="3180" actId="114"/>
        <pc:sldMkLst>
          <pc:docMk/>
          <pc:sldMk cId="2488992133" sldId="279"/>
        </pc:sldMkLst>
        <pc:spChg chg="mod">
          <ac:chgData name="Wolfgang Pell" userId="226c0ae47ee88382" providerId="LiveId" clId="{56CEDA30-0B55-4F9F-823B-647C939FE70D}" dt="2025-12-16T13:52:35.473" v="3180" actId="114"/>
          <ac:spMkLst>
            <pc:docMk/>
            <pc:sldMk cId="2488992133" sldId="279"/>
            <ac:spMk id="3" creationId="{22A196A6-8212-8952-D98C-FEBA987739C8}"/>
          </ac:spMkLst>
        </pc:spChg>
      </pc:sldChg>
      <pc:sldChg chg="modSp add mod ord">
        <pc:chgData name="Wolfgang Pell" userId="226c0ae47ee88382" providerId="LiveId" clId="{56CEDA30-0B55-4F9F-823B-647C939FE70D}" dt="2025-12-13T15:59:44.985" v="3020" actId="20577"/>
        <pc:sldMkLst>
          <pc:docMk/>
          <pc:sldMk cId="3691672388" sldId="280"/>
        </pc:sldMkLst>
        <pc:spChg chg="mod">
          <ac:chgData name="Wolfgang Pell" userId="226c0ae47ee88382" providerId="LiveId" clId="{56CEDA30-0B55-4F9F-823B-647C939FE70D}" dt="2025-12-13T15:59:44.985" v="3020" actId="20577"/>
          <ac:spMkLst>
            <pc:docMk/>
            <pc:sldMk cId="3691672388" sldId="280"/>
            <ac:spMk id="3" creationId="{4F030568-6623-CCB4-52E1-9B11618B54C2}"/>
          </ac:spMkLst>
        </pc:spChg>
      </pc:sldChg>
      <pc:sldChg chg="modSp add mod">
        <pc:chgData name="Wolfgang Pell" userId="226c0ae47ee88382" providerId="LiveId" clId="{56CEDA30-0B55-4F9F-823B-647C939FE70D}" dt="2025-12-13T15:59:48.879" v="3021" actId="20577"/>
        <pc:sldMkLst>
          <pc:docMk/>
          <pc:sldMk cId="2167787776" sldId="281"/>
        </pc:sldMkLst>
        <pc:spChg chg="mod">
          <ac:chgData name="Wolfgang Pell" userId="226c0ae47ee88382" providerId="LiveId" clId="{56CEDA30-0B55-4F9F-823B-647C939FE70D}" dt="2025-12-13T15:59:48.879" v="3021" actId="20577"/>
          <ac:spMkLst>
            <pc:docMk/>
            <pc:sldMk cId="2167787776" sldId="281"/>
            <ac:spMk id="3" creationId="{09C4729C-D9FA-06BB-FAD5-1B42A4B8F9B2}"/>
          </ac:spMkLst>
        </pc:spChg>
      </pc:sldChg>
      <pc:sldChg chg="addSp modSp add mod">
        <pc:chgData name="Wolfgang Pell" userId="226c0ae47ee88382" providerId="LiveId" clId="{56CEDA30-0B55-4F9F-823B-647C939FE70D}" dt="2025-12-13T17:11:07.626" v="3143" actId="20577"/>
        <pc:sldMkLst>
          <pc:docMk/>
          <pc:sldMk cId="2250779199" sldId="282"/>
        </pc:sldMkLst>
        <pc:spChg chg="mod">
          <ac:chgData name="Wolfgang Pell" userId="226c0ae47ee88382" providerId="LiveId" clId="{56CEDA30-0B55-4F9F-823B-647C939FE70D}" dt="2025-12-13T17:11:07.626" v="3143" actId="20577"/>
          <ac:spMkLst>
            <pc:docMk/>
            <pc:sldMk cId="2250779199" sldId="282"/>
            <ac:spMk id="3" creationId="{4512B39A-AC65-4BA5-F6A9-F7D3AFBA0ABA}"/>
          </ac:spMkLst>
        </pc:spChg>
      </pc:sldChg>
      <pc:sldChg chg="addSp delSp modSp add mod ord">
        <pc:chgData name="Wolfgang Pell" userId="226c0ae47ee88382" providerId="LiveId" clId="{56CEDA30-0B55-4F9F-823B-647C939FE70D}" dt="2025-12-13T17:15:33.257" v="3179" actId="20577"/>
        <pc:sldMkLst>
          <pc:docMk/>
          <pc:sldMk cId="3756073676" sldId="283"/>
        </pc:sldMkLst>
        <pc:spChg chg="mod">
          <ac:chgData name="Wolfgang Pell" userId="226c0ae47ee88382" providerId="LiveId" clId="{56CEDA30-0B55-4F9F-823B-647C939FE70D}" dt="2025-12-13T17:15:33.257" v="3179" actId="20577"/>
          <ac:spMkLst>
            <pc:docMk/>
            <pc:sldMk cId="3756073676" sldId="283"/>
            <ac:spMk id="3" creationId="{F0D564AB-B593-3D89-AAA9-092C43E9D961}"/>
          </ac:spMkLst>
        </pc:spChg>
        <pc:graphicFrameChg chg="add mod ord">
          <ac:chgData name="Wolfgang Pell" userId="226c0ae47ee88382" providerId="LiveId" clId="{56CEDA30-0B55-4F9F-823B-647C939FE70D}" dt="2025-12-13T17:09:16.877" v="3138" actId="14100"/>
          <ac:graphicFrameMkLst>
            <pc:docMk/>
            <pc:sldMk cId="3756073676" sldId="283"/>
            <ac:graphicFrameMk id="5" creationId="{C6297029-09E0-0442-6AAB-C841C49A32A1}"/>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6CA807-7C0B-C841-233A-87B9742D8C82}"/>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AT"/>
          </a:p>
        </p:txBody>
      </p:sp>
      <p:sp>
        <p:nvSpPr>
          <p:cNvPr id="3" name="Untertitel 2">
            <a:extLst>
              <a:ext uri="{FF2B5EF4-FFF2-40B4-BE49-F238E27FC236}">
                <a16:creationId xmlns:a16="http://schemas.microsoft.com/office/drawing/2014/main" id="{7041E76D-6BA7-5CCF-2E9F-0936D6F5C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AT"/>
          </a:p>
        </p:txBody>
      </p:sp>
      <p:sp>
        <p:nvSpPr>
          <p:cNvPr id="4" name="Datumsplatzhalter 3">
            <a:extLst>
              <a:ext uri="{FF2B5EF4-FFF2-40B4-BE49-F238E27FC236}">
                <a16:creationId xmlns:a16="http://schemas.microsoft.com/office/drawing/2014/main" id="{24C15258-A16A-7224-8EEF-56F025972B91}"/>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5" name="Fußzeilenplatzhalter 4">
            <a:extLst>
              <a:ext uri="{FF2B5EF4-FFF2-40B4-BE49-F238E27FC236}">
                <a16:creationId xmlns:a16="http://schemas.microsoft.com/office/drawing/2014/main" id="{A740A231-07D5-E4E0-58BE-42988A7A2E9C}"/>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8173A35B-5B95-1C65-6547-214638C9F97F}"/>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2857606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FE823F-F333-21E1-51BE-BCE63EA6354F}"/>
              </a:ext>
            </a:extLst>
          </p:cNvPr>
          <p:cNvSpPr>
            <a:spLocks noGrp="1"/>
          </p:cNvSpPr>
          <p:nvPr>
            <p:ph type="title"/>
          </p:nvPr>
        </p:nvSpPr>
        <p:spPr/>
        <p:txBody>
          <a:bodyPr/>
          <a:lstStyle/>
          <a:p>
            <a:r>
              <a:rPr lang="de-DE"/>
              <a:t>Mastertitelformat bearbeiten</a:t>
            </a:r>
            <a:endParaRPr lang="de-AT"/>
          </a:p>
        </p:txBody>
      </p:sp>
      <p:sp>
        <p:nvSpPr>
          <p:cNvPr id="3" name="Inhaltsplatzhalter 2">
            <a:extLst>
              <a:ext uri="{FF2B5EF4-FFF2-40B4-BE49-F238E27FC236}">
                <a16:creationId xmlns:a16="http://schemas.microsoft.com/office/drawing/2014/main" id="{8626CDF7-D39D-9BFB-CBF6-E52A37F0CEEB}"/>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98EB6FD9-F61F-C27D-BA83-815AF4F4E914}"/>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5" name="Fußzeilenplatzhalter 4">
            <a:extLst>
              <a:ext uri="{FF2B5EF4-FFF2-40B4-BE49-F238E27FC236}">
                <a16:creationId xmlns:a16="http://schemas.microsoft.com/office/drawing/2014/main" id="{C632F7D9-72AF-6814-E00D-DC49EB0B75B2}"/>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A3EC4D55-8A11-51D2-97BA-A3B669833EE2}"/>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46334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648A91-6326-92F4-A69F-FAA18EB188D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AT"/>
          </a:p>
        </p:txBody>
      </p:sp>
      <p:sp>
        <p:nvSpPr>
          <p:cNvPr id="3" name="Textplatzhalter 2">
            <a:extLst>
              <a:ext uri="{FF2B5EF4-FFF2-40B4-BE49-F238E27FC236}">
                <a16:creationId xmlns:a16="http://schemas.microsoft.com/office/drawing/2014/main" id="{66A67305-FFCF-DA21-AE99-FDAADAE6B9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D59CCAC4-2515-67B9-4BA4-9F8C76135CB6}"/>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5" name="Fußzeilenplatzhalter 4">
            <a:extLst>
              <a:ext uri="{FF2B5EF4-FFF2-40B4-BE49-F238E27FC236}">
                <a16:creationId xmlns:a16="http://schemas.microsoft.com/office/drawing/2014/main" id="{61BECB7B-F994-BBCE-B0DD-45C96ADDC0D8}"/>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AF3305DC-E341-966E-3B05-BF7C63E5668F}"/>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210204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7A493B-43D0-1153-8DD5-92D820820B4A}"/>
              </a:ext>
            </a:extLst>
          </p:cNvPr>
          <p:cNvSpPr>
            <a:spLocks noGrp="1"/>
          </p:cNvSpPr>
          <p:nvPr>
            <p:ph type="title"/>
          </p:nvPr>
        </p:nvSpPr>
        <p:spPr/>
        <p:txBody>
          <a:bodyPr/>
          <a:lstStyle/>
          <a:p>
            <a:r>
              <a:rPr lang="de-DE"/>
              <a:t>Mastertitelformat bearbeiten</a:t>
            </a:r>
            <a:endParaRPr lang="de-AT"/>
          </a:p>
        </p:txBody>
      </p:sp>
      <p:sp>
        <p:nvSpPr>
          <p:cNvPr id="3" name="Inhaltsplatzhalter 2">
            <a:extLst>
              <a:ext uri="{FF2B5EF4-FFF2-40B4-BE49-F238E27FC236}">
                <a16:creationId xmlns:a16="http://schemas.microsoft.com/office/drawing/2014/main" id="{D4CBBAFF-880A-81F0-2213-55E6DD8D1CFB}"/>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Inhaltsplatzhalter 3">
            <a:extLst>
              <a:ext uri="{FF2B5EF4-FFF2-40B4-BE49-F238E27FC236}">
                <a16:creationId xmlns:a16="http://schemas.microsoft.com/office/drawing/2014/main" id="{8E4616BF-16EA-1A25-C917-B20F6F55A11D}"/>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Datumsplatzhalter 4">
            <a:extLst>
              <a:ext uri="{FF2B5EF4-FFF2-40B4-BE49-F238E27FC236}">
                <a16:creationId xmlns:a16="http://schemas.microsoft.com/office/drawing/2014/main" id="{87054E3C-C513-5BCB-10BC-C25B6C136413}"/>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6" name="Fußzeilenplatzhalter 5">
            <a:extLst>
              <a:ext uri="{FF2B5EF4-FFF2-40B4-BE49-F238E27FC236}">
                <a16:creationId xmlns:a16="http://schemas.microsoft.com/office/drawing/2014/main" id="{4024E02C-E7C8-D2B2-0CA9-20112B6F5028}"/>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a16="http://schemas.microsoft.com/office/drawing/2014/main" id="{56388F80-FA04-9AF3-85D7-A78C6C2EF955}"/>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2979193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EDABE0-CC27-BA10-E3B4-D517186BBB20}"/>
              </a:ext>
            </a:extLst>
          </p:cNvPr>
          <p:cNvSpPr>
            <a:spLocks noGrp="1"/>
          </p:cNvSpPr>
          <p:nvPr>
            <p:ph type="title"/>
          </p:nvPr>
        </p:nvSpPr>
        <p:spPr>
          <a:xfrm>
            <a:off x="839788" y="365125"/>
            <a:ext cx="10515600" cy="1325563"/>
          </a:xfrm>
        </p:spPr>
        <p:txBody>
          <a:bodyPr/>
          <a:lstStyle/>
          <a:p>
            <a:r>
              <a:rPr lang="de-DE"/>
              <a:t>Mastertitelformat bearbeiten</a:t>
            </a:r>
            <a:endParaRPr lang="de-AT"/>
          </a:p>
        </p:txBody>
      </p:sp>
      <p:sp>
        <p:nvSpPr>
          <p:cNvPr id="3" name="Textplatzhalter 2">
            <a:extLst>
              <a:ext uri="{FF2B5EF4-FFF2-40B4-BE49-F238E27FC236}">
                <a16:creationId xmlns:a16="http://schemas.microsoft.com/office/drawing/2014/main" id="{604325A8-A1B2-B4B3-9419-7A35BC7DE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C5DAB305-CE58-342D-8B2B-2A096BF1BB4F}"/>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Textplatzhalter 4">
            <a:extLst>
              <a:ext uri="{FF2B5EF4-FFF2-40B4-BE49-F238E27FC236}">
                <a16:creationId xmlns:a16="http://schemas.microsoft.com/office/drawing/2014/main" id="{A3708E5F-3B81-5823-F8AC-A4D43B74F5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2218054-D6F2-E01D-2831-6DE6BBC5E300}"/>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7" name="Datumsplatzhalter 6">
            <a:extLst>
              <a:ext uri="{FF2B5EF4-FFF2-40B4-BE49-F238E27FC236}">
                <a16:creationId xmlns:a16="http://schemas.microsoft.com/office/drawing/2014/main" id="{E0C0EF96-DB71-A05A-F558-795158B82D47}"/>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8" name="Fußzeilenplatzhalter 7">
            <a:extLst>
              <a:ext uri="{FF2B5EF4-FFF2-40B4-BE49-F238E27FC236}">
                <a16:creationId xmlns:a16="http://schemas.microsoft.com/office/drawing/2014/main" id="{343E4FE1-E220-6D3E-A5D6-C14689764F02}"/>
              </a:ext>
            </a:extLst>
          </p:cNvPr>
          <p:cNvSpPr>
            <a:spLocks noGrp="1"/>
          </p:cNvSpPr>
          <p:nvPr>
            <p:ph type="ftr" sz="quarter" idx="11"/>
          </p:nvPr>
        </p:nvSpPr>
        <p:spPr/>
        <p:txBody>
          <a:bodyPr/>
          <a:lstStyle/>
          <a:p>
            <a:endParaRPr lang="de-AT"/>
          </a:p>
        </p:txBody>
      </p:sp>
      <p:sp>
        <p:nvSpPr>
          <p:cNvPr id="9" name="Foliennummernplatzhalter 8">
            <a:extLst>
              <a:ext uri="{FF2B5EF4-FFF2-40B4-BE49-F238E27FC236}">
                <a16:creationId xmlns:a16="http://schemas.microsoft.com/office/drawing/2014/main" id="{0DEFF6C0-26B2-11FA-2F52-A6DEEDCEB66B}"/>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1553733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885239-8638-B0CC-832C-CFDB00C95297}"/>
              </a:ext>
            </a:extLst>
          </p:cNvPr>
          <p:cNvSpPr>
            <a:spLocks noGrp="1"/>
          </p:cNvSpPr>
          <p:nvPr>
            <p:ph type="title"/>
          </p:nvPr>
        </p:nvSpPr>
        <p:spPr/>
        <p:txBody>
          <a:bodyPr/>
          <a:lstStyle/>
          <a:p>
            <a:r>
              <a:rPr lang="de-DE"/>
              <a:t>Mastertitelformat bearbeiten</a:t>
            </a:r>
            <a:endParaRPr lang="de-AT"/>
          </a:p>
        </p:txBody>
      </p:sp>
      <p:sp>
        <p:nvSpPr>
          <p:cNvPr id="3" name="Datumsplatzhalter 2">
            <a:extLst>
              <a:ext uri="{FF2B5EF4-FFF2-40B4-BE49-F238E27FC236}">
                <a16:creationId xmlns:a16="http://schemas.microsoft.com/office/drawing/2014/main" id="{030EEAF3-80DB-D514-FC3E-5F3A6FC41948}"/>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4" name="Fußzeilenplatzhalter 3">
            <a:extLst>
              <a:ext uri="{FF2B5EF4-FFF2-40B4-BE49-F238E27FC236}">
                <a16:creationId xmlns:a16="http://schemas.microsoft.com/office/drawing/2014/main" id="{B941183B-6EBE-3604-78D2-86EB32220417}"/>
              </a:ext>
            </a:extLst>
          </p:cNvPr>
          <p:cNvSpPr>
            <a:spLocks noGrp="1"/>
          </p:cNvSpPr>
          <p:nvPr>
            <p:ph type="ftr" sz="quarter" idx="11"/>
          </p:nvPr>
        </p:nvSpPr>
        <p:spPr/>
        <p:txBody>
          <a:bodyPr/>
          <a:lstStyle/>
          <a:p>
            <a:endParaRPr lang="de-AT"/>
          </a:p>
        </p:txBody>
      </p:sp>
      <p:sp>
        <p:nvSpPr>
          <p:cNvPr id="5" name="Foliennummernplatzhalter 4">
            <a:extLst>
              <a:ext uri="{FF2B5EF4-FFF2-40B4-BE49-F238E27FC236}">
                <a16:creationId xmlns:a16="http://schemas.microsoft.com/office/drawing/2014/main" id="{F1B8B077-6122-FAE3-5DB1-27C61A39462D}"/>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3574354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34C8514-B15C-D0DD-5BCC-2332CE3F16E5}"/>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3" name="Fußzeilenplatzhalter 2">
            <a:extLst>
              <a:ext uri="{FF2B5EF4-FFF2-40B4-BE49-F238E27FC236}">
                <a16:creationId xmlns:a16="http://schemas.microsoft.com/office/drawing/2014/main" id="{230DE5E5-BAFF-56A5-F7BC-706F71CBAD01}"/>
              </a:ext>
            </a:extLst>
          </p:cNvPr>
          <p:cNvSpPr>
            <a:spLocks noGrp="1"/>
          </p:cNvSpPr>
          <p:nvPr>
            <p:ph type="ftr" sz="quarter" idx="11"/>
          </p:nvPr>
        </p:nvSpPr>
        <p:spPr/>
        <p:txBody>
          <a:bodyPr/>
          <a:lstStyle/>
          <a:p>
            <a:endParaRPr lang="de-AT"/>
          </a:p>
        </p:txBody>
      </p:sp>
      <p:sp>
        <p:nvSpPr>
          <p:cNvPr id="4" name="Foliennummernplatzhalter 3">
            <a:extLst>
              <a:ext uri="{FF2B5EF4-FFF2-40B4-BE49-F238E27FC236}">
                <a16:creationId xmlns:a16="http://schemas.microsoft.com/office/drawing/2014/main" id="{87E6F466-7648-2AA8-1E80-AB4A38C0A54B}"/>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23981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93C1C7-CB76-9279-F116-66F2070ABB4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AT"/>
          </a:p>
        </p:txBody>
      </p:sp>
      <p:sp>
        <p:nvSpPr>
          <p:cNvPr id="3" name="Inhaltsplatzhalter 2">
            <a:extLst>
              <a:ext uri="{FF2B5EF4-FFF2-40B4-BE49-F238E27FC236}">
                <a16:creationId xmlns:a16="http://schemas.microsoft.com/office/drawing/2014/main" id="{55D1A3E4-A423-CA20-F4A4-A33828FF9B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Textplatzhalter 3">
            <a:extLst>
              <a:ext uri="{FF2B5EF4-FFF2-40B4-BE49-F238E27FC236}">
                <a16:creationId xmlns:a16="http://schemas.microsoft.com/office/drawing/2014/main" id="{38386112-DC65-6019-F5C5-B56EB3F146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858DC31-AFBD-FDA3-3495-B4F3EC64032C}"/>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6" name="Fußzeilenplatzhalter 5">
            <a:extLst>
              <a:ext uri="{FF2B5EF4-FFF2-40B4-BE49-F238E27FC236}">
                <a16:creationId xmlns:a16="http://schemas.microsoft.com/office/drawing/2014/main" id="{571CD0F7-52FC-0F71-C72E-99F89A895C68}"/>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a16="http://schemas.microsoft.com/office/drawing/2014/main" id="{D7D2B4E9-7015-C42B-9643-38BDAE268813}"/>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740155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D93230-86B6-BBEB-5F4E-464498BE072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AT"/>
          </a:p>
        </p:txBody>
      </p:sp>
      <p:sp>
        <p:nvSpPr>
          <p:cNvPr id="3" name="Bildplatzhalter 2">
            <a:extLst>
              <a:ext uri="{FF2B5EF4-FFF2-40B4-BE49-F238E27FC236}">
                <a16:creationId xmlns:a16="http://schemas.microsoft.com/office/drawing/2014/main" id="{29408F0C-F1C8-E33F-DEC1-17867E7E58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AT"/>
          </a:p>
        </p:txBody>
      </p:sp>
      <p:sp>
        <p:nvSpPr>
          <p:cNvPr id="4" name="Textplatzhalter 3">
            <a:extLst>
              <a:ext uri="{FF2B5EF4-FFF2-40B4-BE49-F238E27FC236}">
                <a16:creationId xmlns:a16="http://schemas.microsoft.com/office/drawing/2014/main" id="{E9FDCEEE-EDAC-B273-DD00-06AC50357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7490249-B36D-A3E3-659A-C5479B3149CB}"/>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6" name="Fußzeilenplatzhalter 5">
            <a:extLst>
              <a:ext uri="{FF2B5EF4-FFF2-40B4-BE49-F238E27FC236}">
                <a16:creationId xmlns:a16="http://schemas.microsoft.com/office/drawing/2014/main" id="{5EBE284C-872F-1ABE-69C3-D7AB8B42B485}"/>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a16="http://schemas.microsoft.com/office/drawing/2014/main" id="{208B34C0-A1F6-F31C-7160-FA062DE73040}"/>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972210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104AFB-2D41-4FA7-6A14-10894B491EAA}"/>
              </a:ext>
            </a:extLst>
          </p:cNvPr>
          <p:cNvSpPr>
            <a:spLocks noGrp="1"/>
          </p:cNvSpPr>
          <p:nvPr>
            <p:ph type="title"/>
          </p:nvPr>
        </p:nvSpPr>
        <p:spPr/>
        <p:txBody>
          <a:bodyPr/>
          <a:lstStyle/>
          <a:p>
            <a:r>
              <a:rPr lang="de-DE"/>
              <a:t>Mastertitelformat bearbeiten</a:t>
            </a:r>
            <a:endParaRPr lang="de-AT"/>
          </a:p>
        </p:txBody>
      </p:sp>
      <p:sp>
        <p:nvSpPr>
          <p:cNvPr id="3" name="Vertikaler Textplatzhalter 2">
            <a:extLst>
              <a:ext uri="{FF2B5EF4-FFF2-40B4-BE49-F238E27FC236}">
                <a16:creationId xmlns:a16="http://schemas.microsoft.com/office/drawing/2014/main" id="{C579F53A-6AC3-4635-087D-04720929759F}"/>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EDF7621C-7A6E-1309-DFC4-89C5836AF442}"/>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5" name="Fußzeilenplatzhalter 4">
            <a:extLst>
              <a:ext uri="{FF2B5EF4-FFF2-40B4-BE49-F238E27FC236}">
                <a16:creationId xmlns:a16="http://schemas.microsoft.com/office/drawing/2014/main" id="{F7E0E447-A76B-EAD6-E84F-7DE5919D8C01}"/>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89F21ADA-548B-EF48-B7C6-62C4B0B2F10C}"/>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262795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A6977DE7-5E39-E556-D9E2-6E75DBDC5E14}"/>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AT"/>
          </a:p>
        </p:txBody>
      </p:sp>
      <p:sp>
        <p:nvSpPr>
          <p:cNvPr id="3" name="Vertikaler Textplatzhalter 2">
            <a:extLst>
              <a:ext uri="{FF2B5EF4-FFF2-40B4-BE49-F238E27FC236}">
                <a16:creationId xmlns:a16="http://schemas.microsoft.com/office/drawing/2014/main" id="{0EA0C8F4-8B33-8DC9-D871-98B9A12BD8F9}"/>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A9C82DFF-E62E-62B3-DDB9-5FCCCAB8C251}"/>
              </a:ext>
            </a:extLst>
          </p:cNvPr>
          <p:cNvSpPr>
            <a:spLocks noGrp="1"/>
          </p:cNvSpPr>
          <p:nvPr>
            <p:ph type="dt" sz="half" idx="10"/>
          </p:nvPr>
        </p:nvSpPr>
        <p:spPr/>
        <p:txBody>
          <a:bodyPr/>
          <a:lstStyle/>
          <a:p>
            <a:fld id="{A9C417EE-4FBA-4E8E-9359-42F6D3F7D43C}" type="datetimeFigureOut">
              <a:rPr lang="de-AT" smtClean="0"/>
              <a:t>16.12.2025</a:t>
            </a:fld>
            <a:endParaRPr lang="de-AT"/>
          </a:p>
        </p:txBody>
      </p:sp>
      <p:sp>
        <p:nvSpPr>
          <p:cNvPr id="5" name="Fußzeilenplatzhalter 4">
            <a:extLst>
              <a:ext uri="{FF2B5EF4-FFF2-40B4-BE49-F238E27FC236}">
                <a16:creationId xmlns:a16="http://schemas.microsoft.com/office/drawing/2014/main" id="{F6138B38-4427-E871-77A3-09DAA691258D}"/>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15EF7288-1E44-BEA5-5DD5-C069622DE363}"/>
              </a:ext>
            </a:extLst>
          </p:cNvPr>
          <p:cNvSpPr>
            <a:spLocks noGrp="1"/>
          </p:cNvSpPr>
          <p:nvPr>
            <p:ph type="sldNum" sz="quarter" idx="12"/>
          </p:nvPr>
        </p:nvSpPr>
        <p:spPr/>
        <p:txBody>
          <a:bodyPr/>
          <a:lstStyle/>
          <a:p>
            <a:fld id="{8A996A0D-DD45-4375-B1D2-A0E331A1599B}" type="slidenum">
              <a:rPr lang="de-AT" smtClean="0"/>
              <a:t>‹Nr.›</a:t>
            </a:fld>
            <a:endParaRPr lang="de-AT"/>
          </a:p>
        </p:txBody>
      </p:sp>
    </p:spTree>
    <p:extLst>
      <p:ext uri="{BB962C8B-B14F-4D97-AF65-F5344CB8AC3E}">
        <p14:creationId xmlns:p14="http://schemas.microsoft.com/office/powerpoint/2010/main" val="2860201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D574CDA-BE44-0518-EC44-4E0261AC24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AT"/>
          </a:p>
        </p:txBody>
      </p:sp>
      <p:sp>
        <p:nvSpPr>
          <p:cNvPr id="3" name="Textplatzhalter 2">
            <a:extLst>
              <a:ext uri="{FF2B5EF4-FFF2-40B4-BE49-F238E27FC236}">
                <a16:creationId xmlns:a16="http://schemas.microsoft.com/office/drawing/2014/main" id="{5B55CB66-B53D-AEDA-8818-8E70810FA3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534CE8AD-32F6-9C12-3DEE-CD62DC3781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417EE-4FBA-4E8E-9359-42F6D3F7D43C}" type="datetimeFigureOut">
              <a:rPr lang="de-AT" smtClean="0"/>
              <a:t>16.12.2025</a:t>
            </a:fld>
            <a:endParaRPr lang="de-AT"/>
          </a:p>
        </p:txBody>
      </p:sp>
      <p:sp>
        <p:nvSpPr>
          <p:cNvPr id="5" name="Fußzeilenplatzhalter 4">
            <a:extLst>
              <a:ext uri="{FF2B5EF4-FFF2-40B4-BE49-F238E27FC236}">
                <a16:creationId xmlns:a16="http://schemas.microsoft.com/office/drawing/2014/main" id="{BAF3B4DB-DAB1-CE7B-3A69-5D7A0E54D2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AT"/>
          </a:p>
        </p:txBody>
      </p:sp>
      <p:sp>
        <p:nvSpPr>
          <p:cNvPr id="6" name="Foliennummernplatzhalter 5">
            <a:extLst>
              <a:ext uri="{FF2B5EF4-FFF2-40B4-BE49-F238E27FC236}">
                <a16:creationId xmlns:a16="http://schemas.microsoft.com/office/drawing/2014/main" id="{FCE6511F-3FB6-4AC0-851F-90D4C2C14F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996A0D-DD45-4375-B1D2-A0E331A1599B}" type="slidenum">
              <a:rPr lang="de-AT" smtClean="0"/>
              <a:t>‹Nr.›</a:t>
            </a:fld>
            <a:endParaRPr lang="de-AT"/>
          </a:p>
        </p:txBody>
      </p:sp>
    </p:spTree>
    <p:extLst>
      <p:ext uri="{BB962C8B-B14F-4D97-AF65-F5344CB8AC3E}">
        <p14:creationId xmlns:p14="http://schemas.microsoft.com/office/powerpoint/2010/main" val="1459300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nature.com/articles/s41593-020-0621-y" TargetMode="External"/><Relationship Id="rId3" Type="http://schemas.openxmlformats.org/officeDocument/2006/relationships/hyperlink" Target="mailto:n11909840@students.meduniwien.ac.at" TargetMode="External"/><Relationship Id="rId7" Type="http://schemas.openxmlformats.org/officeDocument/2006/relationships/hyperlink" Target="https://github.com/ridzie/CN-pr-MDD-snRNA-seq" TargetMode="External"/><Relationship Id="rId2" Type="http://schemas.openxmlformats.org/officeDocument/2006/relationships/hyperlink" Target="mailto:n12511725@students.meduniwien.ac.at" TargetMode="External"/><Relationship Id="rId1" Type="http://schemas.openxmlformats.org/officeDocument/2006/relationships/slideLayout" Target="../slideLayouts/slideLayout2.xml"/><Relationship Id="rId6" Type="http://schemas.openxmlformats.org/officeDocument/2006/relationships/hyperlink" Target="mailto:n07725947@students.meduniwien.ac.at" TargetMode="External"/><Relationship Id="rId5" Type="http://schemas.openxmlformats.org/officeDocument/2006/relationships/hyperlink" Target="mailto:n12241989@students.meduniwien.ac.at" TargetMode="External"/><Relationship Id="rId10" Type="http://schemas.openxmlformats.org/officeDocument/2006/relationships/hyperlink" Target="https://github.com/EugOT/CN-pr-MDD-snRNA-seq/blob/main/notebooks/load_snRNA-seq-MDD-for-concatenated.ipynb" TargetMode="External"/><Relationship Id="rId4" Type="http://schemas.openxmlformats.org/officeDocument/2006/relationships/hyperlink" Target="mailto:n01632415@students.meduniwien.ac.at" TargetMode="External"/><Relationship Id="rId9" Type="http://schemas.openxmlformats.org/officeDocument/2006/relationships/hyperlink" Target="https://www.nature.com/articles/s41467-023-38530-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nature.com/articles/s41467-023-38530-5"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nature.com/articles/s41467-023-38530-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nature.com/articles/s41593-020-0621-y"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oi.org/10.1016/j.pharmthera.2018.05.01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oi.org/10.1016/j.neuron.2020.06.00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oi.org/10.1016/j.neuron.2020.06.002"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oi.org/10.1016/j.pharmthera.2018.05.01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i.org/10.1016/j.pharmthera.2018.05.01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16/j.pharmthera.2018.05.010" TargetMode="External"/><Relationship Id="rId2" Type="http://schemas.openxmlformats.org/officeDocument/2006/relationships/hyperlink" Target="https://github.com/EugOT/CN-pr-MDD-snRNA-seq/blob/main/notebooks/load_snRNA-seq-MDD-for-concatenated.ipynb"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016/j.pharmthera.2018.05.010" TargetMode="External"/><Relationship Id="rId2" Type="http://schemas.openxmlformats.org/officeDocument/2006/relationships/hyperlink" Target="https://github.com/EugOT/CN-pr-MDD-snRNA-seq/blob/main/notebooks/load_snRNA-seq-MDD-for-concatenated.ipynb"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8357D-B9C3-8956-C7E1-2174C063236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89663A9-A3BE-67D1-8602-CED0D0314D31}"/>
              </a:ext>
            </a:extLst>
          </p:cNvPr>
          <p:cNvSpPr>
            <a:spLocks noGrp="1"/>
          </p:cNvSpPr>
          <p:nvPr>
            <p:ph type="title"/>
          </p:nvPr>
        </p:nvSpPr>
        <p:spPr>
          <a:xfrm>
            <a:off x="803364" y="295453"/>
            <a:ext cx="10515600" cy="645069"/>
          </a:xfrm>
        </p:spPr>
        <p:txBody>
          <a:bodyPr>
            <a:normAutofit/>
          </a:bodyPr>
          <a:lstStyle/>
          <a:p>
            <a:r>
              <a:rPr lang="de-AT" sz="1800" dirty="0">
                <a:latin typeface="Arial" panose="020B0604020202020204" pitchFamily="34" charset="0"/>
                <a:cs typeface="Arial" panose="020B0604020202020204" pitchFamily="34" charset="0"/>
              </a:rPr>
              <a:t>GROUP TOPIC </a:t>
            </a:r>
            <a:r>
              <a:rPr lang="en-US" sz="18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18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22A196A6-8212-8952-D98C-FEBA987739C8}"/>
              </a:ext>
            </a:extLst>
          </p:cNvPr>
          <p:cNvSpPr>
            <a:spLocks noGrp="1"/>
          </p:cNvSpPr>
          <p:nvPr>
            <p:ph idx="1"/>
          </p:nvPr>
        </p:nvSpPr>
        <p:spPr>
          <a:xfrm>
            <a:off x="838200" y="962287"/>
            <a:ext cx="10515600" cy="503044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Project name: </a:t>
            </a:r>
            <a:r>
              <a:rPr lang="en-US" sz="1050" b="1" i="1" dirty="0">
                <a:latin typeface="Arial" panose="020B0604020202020204" pitchFamily="34" charset="0"/>
                <a:cs typeface="Arial" panose="020B0604020202020204" pitchFamily="34" charset="0"/>
              </a:rPr>
              <a:t>Depression Group</a:t>
            </a:r>
          </a:p>
          <a:p>
            <a:pPr marL="0" indent="0">
              <a:lnSpc>
                <a:spcPct val="120000"/>
              </a:lnSpc>
              <a:spcBef>
                <a:spcPts val="0"/>
              </a:spcBef>
              <a:buNone/>
            </a:pP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b="1" dirty="0">
                <a:latin typeface="Arial" panose="020B0604020202020204" pitchFamily="34" charset="0"/>
                <a:cs typeface="Arial" panose="020B0604020202020204" pitchFamily="34" charset="0"/>
              </a:rPr>
              <a:t>Active Project members</a:t>
            </a:r>
          </a:p>
          <a:p>
            <a:pPr marL="0" indent="0">
              <a:lnSpc>
                <a:spcPct val="120000"/>
              </a:lnSpc>
              <a:spcBef>
                <a:spcPts val="0"/>
              </a:spcBef>
              <a:buNone/>
            </a:pPr>
            <a:r>
              <a:rPr lang="de-AT" sz="1000" dirty="0">
                <a:latin typeface="Arial" panose="020B0604020202020204" pitchFamily="34" charset="0"/>
                <a:cs typeface="Arial" panose="020B0604020202020204" pitchFamily="34" charset="0"/>
              </a:rPr>
              <a:t>Jacky	Jacqueline Larissa </a:t>
            </a:r>
            <a:r>
              <a:rPr lang="de-AT" sz="1000" dirty="0" err="1">
                <a:latin typeface="Arial" panose="020B0604020202020204" pitchFamily="34" charset="0"/>
                <a:cs typeface="Arial" panose="020B0604020202020204" pitchFamily="34" charset="0"/>
              </a:rPr>
              <a:t>Sifft</a:t>
            </a:r>
            <a:r>
              <a:rPr lang="de-AT" sz="1000" dirty="0">
                <a:latin typeface="Arial" panose="020B0604020202020204" pitchFamily="34" charset="0"/>
                <a:cs typeface="Arial" panose="020B0604020202020204" pitchFamily="34" charset="0"/>
              </a:rPr>
              <a:t>	</a:t>
            </a:r>
            <a:r>
              <a:rPr lang="de-AT" sz="1000" dirty="0">
                <a:latin typeface="Arial" panose="020B0604020202020204" pitchFamily="34" charset="0"/>
                <a:cs typeface="Arial" panose="020B0604020202020204" pitchFamily="34" charset="0"/>
                <a:hlinkClick r:id="rId2"/>
              </a:rPr>
              <a:t>n12511725@students.meduniwien.ac.at</a:t>
            </a:r>
            <a:r>
              <a:rPr lang="de-AT" sz="1000" dirty="0">
                <a:latin typeface="Arial" panose="020B0604020202020204" pitchFamily="34" charset="0"/>
                <a:cs typeface="Arial" panose="020B0604020202020204" pitchFamily="34" charset="0"/>
              </a:rPr>
              <a:t> </a:t>
            </a:r>
          </a:p>
          <a:p>
            <a:pPr marL="0" indent="0">
              <a:lnSpc>
                <a:spcPct val="120000"/>
              </a:lnSpc>
              <a:spcBef>
                <a:spcPts val="0"/>
              </a:spcBef>
              <a:buNone/>
            </a:pPr>
            <a:r>
              <a:rPr lang="de-AT" sz="1000" dirty="0">
                <a:latin typeface="Arial" panose="020B0604020202020204" pitchFamily="34" charset="0"/>
                <a:cs typeface="Arial" panose="020B0604020202020204" pitchFamily="34" charset="0"/>
              </a:rPr>
              <a:t>Liv	Olivia Carina Wolfsberger	</a:t>
            </a:r>
            <a:r>
              <a:rPr lang="de-AT" sz="1000" dirty="0">
                <a:latin typeface="Arial" panose="020B0604020202020204" pitchFamily="34" charset="0"/>
                <a:cs typeface="Arial" panose="020B0604020202020204" pitchFamily="34" charset="0"/>
                <a:hlinkClick r:id="rId3"/>
              </a:rPr>
              <a:t>n11909840@students.meduniwien.ac.at</a:t>
            </a: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dirty="0">
                <a:latin typeface="Arial" panose="020B0604020202020204" pitchFamily="34" charset="0"/>
                <a:cs typeface="Arial" panose="020B0604020202020204" pitchFamily="34" charset="0"/>
              </a:rPr>
              <a:t>Paul	Paul Philipp Maria Theis	</a:t>
            </a:r>
            <a:r>
              <a:rPr lang="de-AT" sz="1000" u="sng" dirty="0">
                <a:latin typeface="Arial" panose="020B0604020202020204" pitchFamily="34" charset="0"/>
                <a:cs typeface="Arial" panose="020B0604020202020204" pitchFamily="34" charset="0"/>
                <a:hlinkClick r:id="rId4"/>
              </a:rPr>
              <a:t>n01632415@students.meduniwien.ac.at</a:t>
            </a:r>
            <a:endParaRPr lang="de-AT" sz="1000" u="sng" dirty="0">
              <a:latin typeface="Arial" panose="020B0604020202020204" pitchFamily="34" charset="0"/>
              <a:cs typeface="Arial" panose="020B0604020202020204" pitchFamily="34" charset="0"/>
            </a:endParaRPr>
          </a:p>
          <a:p>
            <a:pPr marL="0" indent="0">
              <a:lnSpc>
                <a:spcPct val="120000"/>
              </a:lnSpc>
              <a:spcBef>
                <a:spcPts val="0"/>
              </a:spcBef>
              <a:buNone/>
            </a:pPr>
            <a:r>
              <a:rPr lang="de-AT" sz="1000" dirty="0" err="1">
                <a:latin typeface="Arial" panose="020B0604020202020204" pitchFamily="34" charset="0"/>
                <a:cs typeface="Arial" panose="020B0604020202020204" pitchFamily="34" charset="0"/>
              </a:rPr>
              <a:t>Ridzie</a:t>
            </a:r>
            <a:r>
              <a:rPr lang="de-AT" sz="1000" dirty="0">
                <a:latin typeface="Arial" panose="020B0604020202020204" pitchFamily="34" charset="0"/>
                <a:cs typeface="Arial" panose="020B0604020202020204" pitchFamily="34" charset="0"/>
              </a:rPr>
              <a:t>	</a:t>
            </a:r>
            <a:r>
              <a:rPr lang="de-AT" sz="1000" dirty="0" err="1">
                <a:latin typeface="Arial" panose="020B0604020202020204" pitchFamily="34" charset="0"/>
                <a:cs typeface="Arial" panose="020B0604020202020204" pitchFamily="34" charset="0"/>
              </a:rPr>
              <a:t>Ridhima</a:t>
            </a:r>
            <a:r>
              <a:rPr lang="de-AT" sz="1000" dirty="0">
                <a:latin typeface="Arial" panose="020B0604020202020204" pitchFamily="34" charset="0"/>
                <a:cs typeface="Arial" panose="020B0604020202020204" pitchFamily="34" charset="0"/>
              </a:rPr>
              <a:t> </a:t>
            </a:r>
            <a:r>
              <a:rPr lang="de-AT" sz="1000" dirty="0" err="1">
                <a:latin typeface="Arial" panose="020B0604020202020204" pitchFamily="34" charset="0"/>
                <a:cs typeface="Arial" panose="020B0604020202020204" pitchFamily="34" charset="0"/>
              </a:rPr>
              <a:t>Chawdhary</a:t>
            </a:r>
            <a:r>
              <a:rPr lang="de-AT" sz="1000" dirty="0">
                <a:latin typeface="Arial" panose="020B0604020202020204" pitchFamily="34" charset="0"/>
                <a:cs typeface="Arial" panose="020B0604020202020204" pitchFamily="34" charset="0"/>
              </a:rPr>
              <a:t>	</a:t>
            </a:r>
            <a:r>
              <a:rPr lang="de-AT" sz="1000" dirty="0">
                <a:latin typeface="Arial" panose="020B0604020202020204" pitchFamily="34" charset="0"/>
                <a:cs typeface="Arial" panose="020B0604020202020204" pitchFamily="34" charset="0"/>
                <a:hlinkClick r:id="rId5"/>
              </a:rPr>
              <a:t>n12241989@students.meduniwien.ac.at</a:t>
            </a:r>
            <a:r>
              <a:rPr lang="en-US" sz="1000" dirty="0">
                <a:latin typeface="Arial" panose="020B0604020202020204" pitchFamily="34" charset="0"/>
                <a:cs typeface="Arial" panose="020B0604020202020204" pitchFamily="34" charset="0"/>
              </a:rPr>
              <a:t> </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Wolfgang	Wolfgang Pell		</a:t>
            </a:r>
            <a:r>
              <a:rPr lang="en-US" sz="1000" dirty="0">
                <a:latin typeface="Arial" panose="020B0604020202020204" pitchFamily="34" charset="0"/>
                <a:cs typeface="Arial" panose="020B0604020202020204" pitchFamily="34" charset="0"/>
                <a:hlinkClick r:id="rId6"/>
              </a:rPr>
              <a:t>n07725947@students.meduniwien.ac.at</a:t>
            </a:r>
            <a:r>
              <a:rPr lang="en-US" sz="1000" dirty="0">
                <a:latin typeface="Arial" panose="020B0604020202020204" pitchFamily="34" charset="0"/>
                <a:cs typeface="Arial" panose="020B0604020202020204" pitchFamily="34" charset="0"/>
              </a:rPr>
              <a:t> </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a:t>
            </a:r>
          </a:p>
          <a:p>
            <a:pPr marL="0" indent="0">
              <a:lnSpc>
                <a:spcPct val="120000"/>
              </a:lnSpc>
              <a:spcBef>
                <a:spcPts val="0"/>
              </a:spcBef>
              <a:buNone/>
            </a:pP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b="1" dirty="0">
                <a:latin typeface="Arial" panose="020B0604020202020204" pitchFamily="34" charset="0"/>
                <a:cs typeface="Arial" panose="020B0604020202020204" pitchFamily="34" charset="0"/>
              </a:rPr>
              <a:t>Time table</a:t>
            </a:r>
          </a:p>
          <a:p>
            <a:pPr marL="0" indent="0">
              <a:lnSpc>
                <a:spcPct val="120000"/>
              </a:lnSpc>
              <a:spcBef>
                <a:spcPts val="0"/>
              </a:spcBef>
              <a:buNone/>
            </a:pPr>
            <a:r>
              <a:rPr lang="en-US" sz="1000" dirty="0" err="1">
                <a:latin typeface="Arial" panose="020B0604020202020204" pitchFamily="34" charset="0"/>
                <a:cs typeface="Arial" panose="020B0604020202020204" pitchFamily="34" charset="0"/>
              </a:rPr>
              <a:t>Tbd</a:t>
            </a: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b="1" dirty="0">
                <a:latin typeface="Arial" panose="020B0604020202020204" pitchFamily="34" charset="0"/>
                <a:cs typeface="Arial" panose="020B0604020202020204" pitchFamily="34" charset="0"/>
              </a:rPr>
              <a:t>Project goals / no-goals</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Detail documentation code + bug fix		Liv/Jacky</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Comparison of “further research questions” with recent articles	Wolfgang</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Evaluation of scripts and data from recent articles	Paul</a:t>
            </a:r>
          </a:p>
          <a:p>
            <a:pPr marL="0" indent="0">
              <a:lnSpc>
                <a:spcPct val="120000"/>
              </a:lnSpc>
              <a:spcBef>
                <a:spcPts val="0"/>
              </a:spcBef>
              <a:buNone/>
            </a:pP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b="1" dirty="0">
                <a:latin typeface="Arial" panose="020B0604020202020204" pitchFamily="34" charset="0"/>
                <a:cs typeface="Arial" panose="020B0604020202020204" pitchFamily="34" charset="0"/>
              </a:rPr>
              <a:t>Communication</a:t>
            </a:r>
          </a:p>
          <a:p>
            <a:pPr marL="0" indent="0">
              <a:lnSpc>
                <a:spcPct val="120000"/>
              </a:lnSpc>
              <a:spcBef>
                <a:spcPts val="0"/>
              </a:spcBef>
              <a:buNone/>
            </a:pPr>
            <a:r>
              <a:rPr lang="en-US" sz="1000" dirty="0">
                <a:latin typeface="Arial" panose="020B0604020202020204" pitchFamily="34" charset="0"/>
                <a:cs typeface="Arial" panose="020B0604020202020204" pitchFamily="34" charset="0"/>
                <a:hlinkClick r:id="rId7"/>
              </a:rPr>
              <a:t>https://github.com/ridzie/CN-pr-MDD-snRNA-seq</a:t>
            </a:r>
            <a:r>
              <a:rPr lang="en-US" sz="1000" dirty="0">
                <a:latin typeface="Arial" panose="020B0604020202020204" pitchFamily="34" charset="0"/>
                <a:cs typeface="Arial" panose="020B0604020202020204" pitchFamily="34" charset="0"/>
              </a:rPr>
              <a:t> </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Signal App</a:t>
            </a:r>
          </a:p>
          <a:p>
            <a:pPr marL="0" indent="0">
              <a:lnSpc>
                <a:spcPct val="120000"/>
              </a:lnSpc>
              <a:spcBef>
                <a:spcPts val="0"/>
              </a:spcBef>
              <a:buNone/>
            </a:pP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b="1" dirty="0">
                <a:latin typeface="Arial" panose="020B0604020202020204" pitchFamily="34" charset="0"/>
                <a:cs typeface="Arial" panose="020B0604020202020204" pitchFamily="34" charset="0"/>
              </a:rPr>
              <a:t>Documentation</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References / Data sets</a:t>
            </a:r>
          </a:p>
          <a:p>
            <a:pPr marL="457200" lvl="1" indent="0">
              <a:lnSpc>
                <a:spcPct val="120000"/>
              </a:lnSpc>
              <a:spcBef>
                <a:spcPts val="0"/>
              </a:spcBef>
              <a:buNone/>
            </a:pPr>
            <a:r>
              <a:rPr lang="en-US" sz="800" dirty="0">
                <a:latin typeface="Arial" panose="020B0604020202020204" pitchFamily="34" charset="0"/>
                <a:cs typeface="Arial" panose="020B0604020202020204" pitchFamily="34" charset="0"/>
                <a:hlinkClick r:id="rId8"/>
              </a:rPr>
              <a:t>https://www.nature.com/articles/s41593-020-0621-y</a:t>
            </a:r>
            <a:r>
              <a:rPr lang="en-US" sz="800" dirty="0">
                <a:latin typeface="Arial" panose="020B0604020202020204" pitchFamily="34" charset="0"/>
                <a:cs typeface="Arial" panose="020B0604020202020204" pitchFamily="34" charset="0"/>
              </a:rPr>
              <a:t> Single-nucleus transcriptomics of the prefrontal cortex in major depressive disorder implicates oligodendrocyte precursor cells and excitatory neurons</a:t>
            </a:r>
          </a:p>
          <a:p>
            <a:pPr marL="457200" lvl="1" indent="0">
              <a:lnSpc>
                <a:spcPct val="120000"/>
              </a:lnSpc>
              <a:spcBef>
                <a:spcPts val="0"/>
              </a:spcBef>
              <a:buNone/>
            </a:pPr>
            <a:r>
              <a:rPr lang="en-US" sz="800" dirty="0">
                <a:latin typeface="Arial" panose="020B0604020202020204" pitchFamily="34" charset="0"/>
                <a:cs typeface="Arial" panose="020B0604020202020204" pitchFamily="34" charset="0"/>
                <a:hlinkClick r:id="rId9"/>
              </a:rPr>
              <a:t>https://www.nature.com/articles/s41467-023-38530-5</a:t>
            </a:r>
            <a:r>
              <a:rPr lang="en-US" sz="800" dirty="0">
                <a:latin typeface="Arial" panose="020B0604020202020204" pitchFamily="34" charset="0"/>
                <a:cs typeface="Arial" panose="020B0604020202020204" pitchFamily="34" charset="0"/>
              </a:rPr>
              <a:t> Cell type specific transcriptomic differences in depression show similar patterns between males and females but implicate distinct cell types and genes (Maitra 2023)</a:t>
            </a:r>
          </a:p>
          <a:p>
            <a:pPr marL="457200" lvl="1" indent="0">
              <a:lnSpc>
                <a:spcPct val="120000"/>
              </a:lnSpc>
              <a:spcBef>
                <a:spcPts val="0"/>
              </a:spcBef>
              <a:buNone/>
              <a:defRPr/>
            </a:pPr>
            <a:r>
              <a:rPr lang="en-US" sz="800" dirty="0">
                <a:solidFill>
                  <a:prstClr val="black"/>
                </a:solidFill>
                <a:latin typeface="Arial" panose="020B0604020202020204" pitchFamily="34" charset="0"/>
                <a:cs typeface="Arial" panose="020B0604020202020204" pitchFamily="34" charset="0"/>
                <a:hlinkClick r:id="rId10"/>
              </a:rPr>
              <a:t>https://github.com/EugOT/CN-pr-MDD-snRNA-seq/blob/main/notebooks/load_snRNA-seq-MDD-for-concatenated.ipynb</a:t>
            </a:r>
            <a:endParaRPr lang="en-US" sz="8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8992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D4F21-DB7D-DF05-6D2C-EC0A969ED2C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98CD8C8-4B2C-5ADE-1EF3-65E40A07E0FE}"/>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645CDBF8-AE18-AE6B-5CAA-2C22AABAB4CD}"/>
              </a:ext>
            </a:extLst>
          </p:cNvPr>
          <p:cNvSpPr>
            <a:spLocks noGrp="1"/>
          </p:cNvSpPr>
          <p:nvPr>
            <p:ph idx="1"/>
          </p:nvPr>
        </p:nvSpPr>
        <p:spPr>
          <a:xfrm>
            <a:off x="838200" y="1240970"/>
            <a:ext cx="10685106"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Project Notes on: MDD snRNA dataset and why we want to </a:t>
            </a:r>
            <a:r>
              <a:rPr lang="en-US" sz="1050" b="1" dirty="0" err="1">
                <a:latin typeface="Arial" panose="020B0604020202020204" pitchFamily="34" charset="0"/>
                <a:cs typeface="Arial" panose="020B0604020202020204" pitchFamily="34" charset="0"/>
              </a:rPr>
              <a:t>analyse</a:t>
            </a:r>
            <a:r>
              <a:rPr lang="en-US" sz="1050" b="1" dirty="0">
                <a:latin typeface="Arial" panose="020B0604020202020204" pitchFamily="34" charset="0"/>
                <a:cs typeface="Arial" panose="020B0604020202020204" pitchFamily="34" charset="0"/>
              </a:rPr>
              <a:t> data for single cell subtype</a:t>
            </a: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The authors found cell-type specific differentially expressed genes were associated with MDD, but interestingly while in general there was a high level of overlap in differentially expressed genes (DEGs) between the broad and cell-level analysis for the MDD patients, there was very little overlap in DEGs between the sexes. For males, there were the highest DEGs in deep layer excitatory neurons, astrocytes, and oligodendrocyte precursor cells (OPCs), but for females, the highest number of DEGs were in microglia and parvalbumin (PV) interneurons.</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While the authors’ analysis considered broader patterns of differentially expressed genes between clusters and between the sexes, we note that a detailed analysis on a single cell-type in particular may assist in understanding in greater detail the mechanism of action of certain treatments for MDD, why these treatments work better in some individuals than others, and whether certain more targeted treatments could be developed (with a particular focus on differences between the sexes).</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(Maitra et al 2023, Nagy et al 2020)</a:t>
            </a: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a:lnSpc>
                <a:spcPct val="120000"/>
              </a:lnSpc>
              <a:spcBef>
                <a:spcPts val="0"/>
              </a:spcBef>
            </a:pPr>
            <a:endParaRPr lang="en-US" sz="10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7202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2A937-C5AA-1FB3-9680-5EA03316AE9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D77AAF-1FA2-C7BE-9889-D9908D393FDA}"/>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FA04958F-3D86-FD22-5EEE-67AF6B89BF23}"/>
              </a:ext>
            </a:extLst>
          </p:cNvPr>
          <p:cNvSpPr>
            <a:spLocks noGrp="1"/>
          </p:cNvSpPr>
          <p:nvPr>
            <p:ph idx="1"/>
          </p:nvPr>
        </p:nvSpPr>
        <p:spPr>
          <a:xfrm>
            <a:off x="838200" y="1240970"/>
            <a:ext cx="10685106"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Project notes: Cell type specific transcriptomic differences in depression show similar patterns between males and females but implicate distinct cell types and genes (Maitra 2023) </a:t>
            </a:r>
            <a:r>
              <a:rPr lang="en-US" sz="1050" dirty="0">
                <a:latin typeface="Arial" panose="020B0604020202020204" pitchFamily="34" charset="0"/>
                <a:cs typeface="Arial" panose="020B0604020202020204" pitchFamily="34" charset="0"/>
                <a:hlinkClick r:id="rId2"/>
              </a:rPr>
              <a:t>https://www.nature.com/articles/s41467-023-38530-5</a:t>
            </a:r>
            <a:r>
              <a:rPr lang="en-US" sz="1050" dirty="0">
                <a:latin typeface="Arial" panose="020B0604020202020204" pitchFamily="34" charset="0"/>
                <a:cs typeface="Arial" panose="020B0604020202020204" pitchFamily="34" charset="0"/>
              </a:rPr>
              <a:t> (Male &amp; Female integrated)</a:t>
            </a: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Background and sample:</a:t>
            </a:r>
          </a:p>
          <a:p>
            <a:pPr>
              <a:lnSpc>
                <a:spcPct val="120000"/>
              </a:lnSpc>
              <a:spcBef>
                <a:spcPts val="0"/>
              </a:spcBef>
            </a:pPr>
            <a:r>
              <a:rPr lang="en-US" sz="1050" dirty="0">
                <a:latin typeface="Arial" panose="020B0604020202020204" pitchFamily="34" charset="0"/>
                <a:cs typeface="Arial" panose="020B0604020202020204" pitchFamily="34" charset="0"/>
              </a:rPr>
              <a:t>200-300 million people worldwide affected by MDD - is a leading cause of disability</a:t>
            </a:r>
          </a:p>
          <a:p>
            <a:pPr>
              <a:lnSpc>
                <a:spcPct val="120000"/>
              </a:lnSpc>
              <a:spcBef>
                <a:spcPts val="0"/>
              </a:spcBef>
            </a:pPr>
            <a:r>
              <a:rPr lang="en-US" sz="1050" dirty="0">
                <a:latin typeface="Arial" panose="020B0604020202020204" pitchFamily="34" charset="0"/>
                <a:cs typeface="Arial" panose="020B0604020202020204" pitchFamily="34" charset="0"/>
              </a:rPr>
              <a:t>Molecular etiology only partially understood</a:t>
            </a:r>
          </a:p>
          <a:p>
            <a:pPr>
              <a:lnSpc>
                <a:spcPct val="120000"/>
              </a:lnSpc>
              <a:spcBef>
                <a:spcPts val="0"/>
              </a:spcBef>
            </a:pPr>
            <a:r>
              <a:rPr lang="en-US" sz="1050" dirty="0">
                <a:latin typeface="Arial" panose="020B0604020202020204" pitchFamily="34" charset="0"/>
                <a:cs typeface="Arial" panose="020B0604020202020204" pitchFamily="34" charset="0"/>
              </a:rPr>
              <a:t>There are significant sexual differences in MDD clinical presentation and outcome (it’s twice as prevalent in women as men). Recent evidence suggests different molecular bases for male and female MDD</a:t>
            </a:r>
          </a:p>
          <a:p>
            <a:pPr>
              <a:lnSpc>
                <a:spcPct val="120000"/>
              </a:lnSpc>
              <a:spcBef>
                <a:spcPts val="0"/>
              </a:spcBef>
            </a:pPr>
            <a:r>
              <a:rPr lang="en-US" sz="1050" dirty="0">
                <a:latin typeface="Arial" panose="020B0604020202020204" pitchFamily="34" charset="0"/>
                <a:cs typeface="Arial" panose="020B0604020202020204" pitchFamily="34" charset="0"/>
              </a:rPr>
              <a:t>Women more likely to have comorbid anxiety and recurrent episodes, and men are more likely to have comorbid substance abuse disorders and die by suicide.</a:t>
            </a:r>
          </a:p>
          <a:p>
            <a:pPr>
              <a:lnSpc>
                <a:spcPct val="120000"/>
              </a:lnSpc>
              <a:spcBef>
                <a:spcPts val="0"/>
              </a:spcBef>
            </a:pPr>
            <a:r>
              <a:rPr lang="en-US" sz="1050" dirty="0">
                <a:latin typeface="Arial" panose="020B0604020202020204" pitchFamily="34" charset="0"/>
                <a:cs typeface="Arial" panose="020B0604020202020204" pitchFamily="34" charset="0"/>
              </a:rPr>
              <a:t>Previous studies = MDD-associated differences in brain transcriptomics are primarily sex-specific across brain regions, with very little overlap of differentially expressed genes (DEGs) and discordance in overall patterns of difference between the sexes.</a:t>
            </a:r>
          </a:p>
          <a:p>
            <a:pPr>
              <a:lnSpc>
                <a:spcPct val="120000"/>
              </a:lnSpc>
              <a:spcBef>
                <a:spcPts val="0"/>
              </a:spcBef>
            </a:pPr>
            <a:r>
              <a:rPr lang="en-US" sz="1050" dirty="0">
                <a:latin typeface="Arial" panose="020B0604020202020204" pitchFamily="34" charset="0"/>
                <a:cs typeface="Arial" panose="020B0604020202020204" pitchFamily="34" charset="0"/>
              </a:rPr>
              <a:t>snRNA-seq technique used - in order to investigate cell type specific transcriptomic contributions to MDD</a:t>
            </a:r>
          </a:p>
          <a:p>
            <a:pPr>
              <a:lnSpc>
                <a:spcPct val="120000"/>
              </a:lnSpc>
              <a:spcBef>
                <a:spcPts val="0"/>
              </a:spcBef>
            </a:pPr>
            <a:r>
              <a:rPr lang="en-US" sz="1050" dirty="0">
                <a:latin typeface="Arial" panose="020B0604020202020204" pitchFamily="34" charset="0"/>
                <a:cs typeface="Arial" panose="020B0604020202020204" pitchFamily="34" charset="0"/>
              </a:rPr>
              <a:t>This paper integrates finds from same dataset as the above Nagy et al 2020 which only looked at male samples</a:t>
            </a:r>
          </a:p>
          <a:p>
            <a:pPr>
              <a:lnSpc>
                <a:spcPct val="120000"/>
              </a:lnSpc>
              <a:spcBef>
                <a:spcPts val="0"/>
              </a:spcBef>
            </a:pPr>
            <a:r>
              <a:rPr lang="en-US" sz="1050" dirty="0">
                <a:latin typeface="Arial" panose="020B0604020202020204" pitchFamily="34" charset="0"/>
                <a:cs typeface="Arial" panose="020B0604020202020204" pitchFamily="34" charset="0"/>
              </a:rPr>
              <a:t>Over 160,000 nuclei from </a:t>
            </a:r>
            <a:r>
              <a:rPr lang="en-US" sz="1050" dirty="0" err="1">
                <a:latin typeface="Arial" panose="020B0604020202020204" pitchFamily="34" charset="0"/>
                <a:cs typeface="Arial" panose="020B0604020202020204" pitchFamily="34" charset="0"/>
              </a:rPr>
              <a:t>dlPFC</a:t>
            </a:r>
            <a:r>
              <a:rPr lang="en-US" sz="1050" dirty="0">
                <a:latin typeface="Arial" panose="020B0604020202020204" pitchFamily="34" charset="0"/>
                <a:cs typeface="Arial" panose="020B0604020202020204" pitchFamily="34" charset="0"/>
              </a:rPr>
              <a:t> of 71 female and male donors (37 cases and 34 controls)(F: 20 MDD and 18 control, M: 17 MDD and 16 control)</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Results:</a:t>
            </a:r>
          </a:p>
          <a:p>
            <a:pPr>
              <a:lnSpc>
                <a:spcPct val="120000"/>
              </a:lnSpc>
              <a:spcBef>
                <a:spcPts val="0"/>
              </a:spcBef>
            </a:pPr>
            <a:r>
              <a:rPr lang="en-US" sz="1050" dirty="0">
                <a:latin typeface="Arial" panose="020B0604020202020204" pitchFamily="34" charset="0"/>
                <a:cs typeface="Arial" panose="020B0604020202020204" pitchFamily="34" charset="0"/>
              </a:rPr>
              <a:t>DEGs detected and the cell types with prominent differences were distinct in males and females, but the overall patterns of MDD-associated gene expression difference within each cell type were consistent between the sexes.</a:t>
            </a:r>
          </a:p>
          <a:p>
            <a:pPr>
              <a:lnSpc>
                <a:spcPct val="120000"/>
              </a:lnSpc>
              <a:spcBef>
                <a:spcPts val="0"/>
              </a:spcBef>
            </a:pPr>
            <a:r>
              <a:rPr lang="en-US" sz="1050" dirty="0">
                <a:latin typeface="Arial" panose="020B0604020202020204" pitchFamily="34" charset="0"/>
                <a:cs typeface="Arial" panose="020B0604020202020204" pitchFamily="34" charset="0"/>
              </a:rPr>
              <a:t>Strongest involvement:</a:t>
            </a:r>
          </a:p>
          <a:p>
            <a:pPr>
              <a:lnSpc>
                <a:spcPct val="120000"/>
              </a:lnSpc>
              <a:spcBef>
                <a:spcPts val="0"/>
              </a:spcBef>
            </a:pPr>
            <a:r>
              <a:rPr lang="en-US" sz="1050" dirty="0">
                <a:latin typeface="Arial" panose="020B0604020202020204" pitchFamily="34" charset="0"/>
                <a:cs typeface="Arial" panose="020B0604020202020204" pitchFamily="34" charset="0"/>
              </a:rPr>
              <a:t>Males: deep layer excitatory neurons, astrocytes, and oligodendrocyte precursor cells (OPCs)</a:t>
            </a:r>
          </a:p>
          <a:p>
            <a:pPr>
              <a:lnSpc>
                <a:spcPct val="120000"/>
              </a:lnSpc>
              <a:spcBef>
                <a:spcPts val="0"/>
              </a:spcBef>
            </a:pPr>
            <a:r>
              <a:rPr lang="en-US" sz="1050" dirty="0">
                <a:latin typeface="Arial" panose="020B0604020202020204" pitchFamily="34" charset="0"/>
                <a:cs typeface="Arial" panose="020B0604020202020204" pitchFamily="34" charset="0"/>
              </a:rPr>
              <a:t>Females: microglia and parvalbumin (PV) interneurons</a:t>
            </a:r>
          </a:p>
          <a:p>
            <a:pPr>
              <a:lnSpc>
                <a:spcPct val="120000"/>
              </a:lnSpc>
              <a:spcBef>
                <a:spcPts val="0"/>
              </a:spcBef>
            </a:pPr>
            <a:r>
              <a:rPr lang="en-US" sz="1050" dirty="0">
                <a:latin typeface="Arial" panose="020B0604020202020204" pitchFamily="34" charset="0"/>
                <a:cs typeface="Arial" panose="020B0604020202020204" pitchFamily="34" charset="0"/>
              </a:rPr>
              <a:t>Identify 41 nuclei clusters - and annotated 40 to one of major brain cell types.</a:t>
            </a:r>
          </a:p>
          <a:p>
            <a:pPr>
              <a:lnSpc>
                <a:spcPct val="120000"/>
              </a:lnSpc>
              <a:spcBef>
                <a:spcPts val="0"/>
              </a:spcBef>
            </a:pPr>
            <a:r>
              <a:rPr lang="en-US" sz="1050" dirty="0">
                <a:latin typeface="Arial" panose="020B0604020202020204" pitchFamily="34" charset="0"/>
                <a:cs typeface="Arial" panose="020B0604020202020204" pitchFamily="34" charset="0"/>
              </a:rPr>
              <a:t>Proportions of cell types: in MDD decrease astrocytes and OPCs and increased excitatory (versus controls)</a:t>
            </a:r>
          </a:p>
          <a:p>
            <a:pPr>
              <a:lnSpc>
                <a:spcPct val="120000"/>
              </a:lnSpc>
              <a:spcBef>
                <a:spcPts val="0"/>
              </a:spcBef>
            </a:pPr>
            <a:r>
              <a:rPr lang="en-US" sz="1050" dirty="0">
                <a:latin typeface="Arial" panose="020B0604020202020204" pitchFamily="34" charset="0"/>
                <a:cs typeface="Arial" panose="020B0604020202020204" pitchFamily="34" charset="0"/>
              </a:rPr>
              <a:t>Transcriptomics : males and females = high proportion of common DEGs between broad and cluster level analyses but few DEGs common to both sexes</a:t>
            </a:r>
          </a:p>
          <a:p>
            <a:pPr>
              <a:lnSpc>
                <a:spcPct val="120000"/>
              </a:lnSpc>
              <a:spcBef>
                <a:spcPts val="0"/>
              </a:spcBef>
            </a:pPr>
            <a:r>
              <a:rPr lang="en-US" sz="1050" dirty="0">
                <a:latin typeface="Arial" panose="020B0604020202020204" pitchFamily="34" charset="0"/>
                <a:cs typeface="Arial" panose="020B0604020202020204" pitchFamily="34" charset="0"/>
              </a:rPr>
              <a:t>Broad cell types: significant overlap between males and females in genes less expressed in MDD in Astrocytes, Excitatory Neurons, and Inhibitory neurons and an overlap in genes more expressed in MDD in Microglia</a:t>
            </a:r>
          </a:p>
          <a:p>
            <a:pPr>
              <a:lnSpc>
                <a:spcPct val="120000"/>
              </a:lnSpc>
              <a:spcBef>
                <a:spcPts val="0"/>
              </a:spcBef>
            </a:pPr>
            <a:r>
              <a:rPr lang="en-US" sz="1050" dirty="0">
                <a:latin typeface="Arial" panose="020B0604020202020204" pitchFamily="34" charset="0"/>
                <a:cs typeface="Arial" panose="020B0604020202020204" pitchFamily="34" charset="0"/>
              </a:rPr>
              <a:t>Cluster level: 8/34 show discordance between sexes</a:t>
            </a:r>
          </a:p>
          <a:p>
            <a:pPr>
              <a:lnSpc>
                <a:spcPct val="120000"/>
              </a:lnSpc>
              <a:spcBef>
                <a:spcPts val="0"/>
              </a:spcBef>
            </a:pPr>
            <a:r>
              <a:rPr lang="en-US" sz="1050" dirty="0">
                <a:latin typeface="Arial" panose="020B0604020202020204" pitchFamily="34" charset="0"/>
                <a:cs typeface="Arial" panose="020B0604020202020204" pitchFamily="34" charset="0"/>
              </a:rPr>
              <a:t>Identified the cell types with the strongest evidence of dysregulation due to MDD in each sex</a:t>
            </a:r>
          </a:p>
        </p:txBody>
      </p:sp>
    </p:spTree>
    <p:extLst>
      <p:ext uri="{BB962C8B-B14F-4D97-AF65-F5344CB8AC3E}">
        <p14:creationId xmlns:p14="http://schemas.microsoft.com/office/powerpoint/2010/main" val="2432001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E86D0-6B0C-F564-61C8-19E2F393288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638A76C-7EE0-3C47-7566-A0C1672BAD2F}"/>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EEDB641-09C2-AD79-E4FA-53027E45F260}"/>
              </a:ext>
            </a:extLst>
          </p:cNvPr>
          <p:cNvSpPr>
            <a:spLocks noGrp="1"/>
          </p:cNvSpPr>
          <p:nvPr>
            <p:ph idx="1"/>
          </p:nvPr>
        </p:nvSpPr>
        <p:spPr>
          <a:xfrm>
            <a:off x="838200" y="1240970"/>
            <a:ext cx="10685106"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Project notes: Cell type specific transcriptomic differences in depression show similar patterns between males and females but implicate distinct cell types and genes (Maitra 2023) </a:t>
            </a:r>
            <a:r>
              <a:rPr lang="en-US" sz="1050" dirty="0">
                <a:latin typeface="Arial" panose="020B0604020202020204" pitchFamily="34" charset="0"/>
                <a:cs typeface="Arial" panose="020B0604020202020204" pitchFamily="34" charset="0"/>
                <a:hlinkClick r:id="rId2"/>
              </a:rPr>
              <a:t>https://www.nature.com/articles/s41467-023-38530-5</a:t>
            </a:r>
            <a:r>
              <a:rPr lang="en-US" sz="1050" dirty="0">
                <a:latin typeface="Arial" panose="020B0604020202020204" pitchFamily="34" charset="0"/>
                <a:cs typeface="Arial" panose="020B0604020202020204" pitchFamily="34" charset="0"/>
              </a:rPr>
              <a:t> (Male &amp; Female integrated)</a:t>
            </a: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a:lnSpc>
                <a:spcPct val="120000"/>
              </a:lnSpc>
              <a:spcBef>
                <a:spcPts val="0"/>
              </a:spcBef>
            </a:pPr>
            <a:r>
              <a:rPr lang="en-US" sz="1050" b="1" dirty="0">
                <a:latin typeface="Arial" panose="020B0604020202020204" pitchFamily="34" charset="0"/>
                <a:cs typeface="Arial" panose="020B0604020202020204" pitchFamily="34" charset="0"/>
              </a:rPr>
              <a:t>Males:</a:t>
            </a:r>
          </a:p>
          <a:p>
            <a:pPr lvl="1">
              <a:lnSpc>
                <a:spcPct val="120000"/>
              </a:lnSpc>
              <a:spcBef>
                <a:spcPts val="0"/>
              </a:spcBef>
              <a:buFont typeface="Courier New" panose="02070309020205020404" pitchFamily="49" charset="0"/>
              <a:buChar char="o"/>
            </a:pPr>
            <a:r>
              <a:rPr lang="en-US" sz="1000" dirty="0">
                <a:latin typeface="Arial" panose="020B0604020202020204" pitchFamily="34" charset="0"/>
                <a:cs typeface="Arial" panose="020B0604020202020204" pitchFamily="34" charset="0"/>
              </a:rPr>
              <a:t>reanalysis consistent with previous:</a:t>
            </a:r>
          </a:p>
          <a:p>
            <a:pPr lvl="1">
              <a:lnSpc>
                <a:spcPct val="120000"/>
              </a:lnSpc>
              <a:spcBef>
                <a:spcPts val="0"/>
              </a:spcBef>
              <a:buFont typeface="Courier New" panose="02070309020205020404" pitchFamily="49" charset="0"/>
              <a:buChar char="o"/>
            </a:pPr>
            <a:r>
              <a:rPr lang="en-US" sz="1000" dirty="0">
                <a:latin typeface="Arial" panose="020B0604020202020204" pitchFamily="34" charset="0"/>
                <a:cs typeface="Arial" panose="020B0604020202020204" pitchFamily="34" charset="0"/>
              </a:rPr>
              <a:t>(a) broad cell types: highest number of DEGs in astrocytes and OPC,</a:t>
            </a:r>
          </a:p>
          <a:p>
            <a:pPr lvl="1">
              <a:lnSpc>
                <a:spcPct val="120000"/>
              </a:lnSpc>
              <a:spcBef>
                <a:spcPts val="0"/>
              </a:spcBef>
              <a:buFont typeface="Courier New" panose="02070309020205020404" pitchFamily="49" charset="0"/>
              <a:buChar char="o"/>
            </a:pPr>
            <a:r>
              <a:rPr lang="en-US" sz="1000" dirty="0">
                <a:latin typeface="Arial" panose="020B0604020202020204" pitchFamily="34" charset="0"/>
                <a:cs typeface="Arial" panose="020B0604020202020204" pitchFamily="34" charset="0"/>
              </a:rPr>
              <a:t>(b) cluster level: highest number of DEGs found in a cluster of deep layer excitatory neurons—ExN10_L46 (and a cluster of astrocytes – Ast1)</a:t>
            </a:r>
          </a:p>
          <a:p>
            <a:pPr>
              <a:lnSpc>
                <a:spcPct val="120000"/>
              </a:lnSpc>
              <a:spcBef>
                <a:spcPts val="0"/>
              </a:spcBef>
            </a:pPr>
            <a:r>
              <a:rPr lang="en-US" sz="1050" b="1" dirty="0">
                <a:latin typeface="Arial" panose="020B0604020202020204" pitchFamily="34" charset="0"/>
                <a:cs typeface="Arial" panose="020B0604020202020204" pitchFamily="34" charset="0"/>
              </a:rPr>
              <a:t>Females</a:t>
            </a:r>
          </a:p>
          <a:p>
            <a:pPr lvl="1">
              <a:lnSpc>
                <a:spcPct val="120000"/>
              </a:lnSpc>
              <a:spcBef>
                <a:spcPts val="0"/>
              </a:spcBef>
              <a:buFont typeface="Courier New" panose="02070309020205020404" pitchFamily="49" charset="0"/>
              <a:buChar char="o"/>
            </a:pPr>
            <a:r>
              <a:rPr lang="en-US" sz="1000" dirty="0">
                <a:latin typeface="Arial" panose="020B0604020202020204" pitchFamily="34" charset="0"/>
                <a:cs typeface="Arial" panose="020B0604020202020204" pitchFamily="34" charset="0"/>
              </a:rPr>
              <a:t>(a) broad cell types: high number of DEGs in microglia only,</a:t>
            </a:r>
          </a:p>
          <a:p>
            <a:pPr lvl="1">
              <a:lnSpc>
                <a:spcPct val="120000"/>
              </a:lnSpc>
              <a:spcBef>
                <a:spcPts val="0"/>
              </a:spcBef>
              <a:buFont typeface="Courier New" panose="02070309020205020404" pitchFamily="49" charset="0"/>
              <a:buChar char="o"/>
            </a:pPr>
            <a:r>
              <a:rPr lang="en-US" sz="1000" dirty="0">
                <a:latin typeface="Arial" panose="020B0604020202020204" pitchFamily="34" charset="0"/>
                <a:cs typeface="Arial" panose="020B0604020202020204" pitchFamily="34" charset="0"/>
              </a:rPr>
              <a:t>(b) cluster level: highest number of DEGs in the Mic1 cluster with a large proportion overlapping with the microglial DEGs at the broad level. Several inhibitory neuronal clusters including two PVALB expressing clusters—InN1_PV and InN9_PV as well as an SST expressing cluster—InN2_SST and an ADARB2 expressing cluster—InN8_ADARB2 contained majority of remaining DEGs.</a:t>
            </a:r>
          </a:p>
          <a:p>
            <a:pPr lvl="1">
              <a:lnSpc>
                <a:spcPct val="120000"/>
              </a:lnSpc>
              <a:spcBef>
                <a:spcPts val="0"/>
              </a:spcBef>
              <a:buFont typeface="Courier New" panose="02070309020205020404" pitchFamily="49" charset="0"/>
              <a:buChar char="o"/>
            </a:pPr>
            <a:r>
              <a:rPr lang="en-US" sz="1000" dirty="0">
                <a:latin typeface="Arial" panose="020B0604020202020204" pitchFamily="34" charset="0"/>
                <a:cs typeface="Arial" panose="020B0604020202020204" pitchFamily="34" charset="0"/>
              </a:rPr>
              <a:t>Results pointed to dysregulation of microglia and inhibitory neurons, especially PV interneurons in females with MDD</a:t>
            </a:r>
          </a:p>
          <a:p>
            <a:pPr>
              <a:lnSpc>
                <a:spcPct val="120000"/>
              </a:lnSpc>
              <a:spcBef>
                <a:spcPts val="0"/>
              </a:spcBef>
            </a:pPr>
            <a:r>
              <a:rPr lang="en-US" sz="1050" dirty="0">
                <a:latin typeface="Arial" panose="020B0604020202020204" pitchFamily="34" charset="0"/>
                <a:cs typeface="Arial" panose="020B0604020202020204" pitchFamily="34" charset="0"/>
              </a:rPr>
              <a:t>The authors investigate the DEGs and their potential effects in microglial cells, dysregulation of cellular stress pathways in PV interneurons, and also the crosstalk between microglial cells and PV interneurons,</a:t>
            </a:r>
          </a:p>
          <a:p>
            <a:pPr>
              <a:lnSpc>
                <a:spcPct val="120000"/>
              </a:lnSpc>
              <a:spcBef>
                <a:spcPts val="0"/>
              </a:spcBef>
            </a:pPr>
            <a:r>
              <a:rPr lang="en-US" sz="1050" dirty="0">
                <a:latin typeface="Arial" panose="020B0604020202020204" pitchFamily="34" charset="0"/>
                <a:cs typeface="Arial" panose="020B0604020202020204" pitchFamily="34" charset="0"/>
              </a:rPr>
              <a:t>PV interneurons implicated in stress and depression with sex-specific changes - most PV interneurons are encapsulated by ECM structures called perineuronal nets (PNNs) which help protect them from cellular stress, and microglia are known to regulate PNNs. Therefore cellular stress may be part of the molecular pathology of MDD..</a:t>
            </a:r>
          </a:p>
          <a:p>
            <a:pPr>
              <a:lnSpc>
                <a:spcPct val="120000"/>
              </a:lnSpc>
              <a:spcBef>
                <a:spcPts val="0"/>
              </a:spcBef>
            </a:pPr>
            <a:r>
              <a:rPr lang="en-US" sz="1050" dirty="0">
                <a:latin typeface="Arial" panose="020B0604020202020204" pitchFamily="34" charset="0"/>
                <a:cs typeface="Arial" panose="020B0604020202020204" pitchFamily="34" charset="0"/>
              </a:rPr>
              <a:t>Authors found evidence of dysregulated cellular stress pathways, such as heat-shock factor activation, in PV interneurons in MDD females via differential expression analysis and WGCNA. And both analyses pointed to dysregulation of estrogen receptor mediated signaling.</a:t>
            </a:r>
          </a:p>
          <a:p>
            <a:pPr>
              <a:lnSpc>
                <a:spcPct val="100000"/>
              </a:lnSpc>
              <a:spcBef>
                <a:spcPts val="0"/>
              </a:spcBef>
            </a:pPr>
            <a:r>
              <a:rPr lang="en-US" sz="1050" dirty="0">
                <a:latin typeface="Arial" panose="020B0604020202020204" pitchFamily="34" charset="0"/>
                <a:cs typeface="Arial" panose="020B0604020202020204" pitchFamily="34" charset="0"/>
              </a:rPr>
              <a:t>Focus on stress response and interaction between microglia and PV interneurons, no details on gene expression re genes coding for NMDARs</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7226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7BE9-5186-4C90-B5BF-61AC4190CC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7043523-7C2B-02BB-5E49-BF6B954A164F}"/>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F355ED40-3D67-F441-41AF-D62DDE8D8EC1}"/>
              </a:ext>
            </a:extLst>
          </p:cNvPr>
          <p:cNvSpPr>
            <a:spLocks noGrp="1"/>
          </p:cNvSpPr>
          <p:nvPr>
            <p:ph idx="1"/>
          </p:nvPr>
        </p:nvSpPr>
        <p:spPr>
          <a:xfrm>
            <a:off x="838200" y="1240970"/>
            <a:ext cx="10685106"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Project notes: Single-nucleus transcriptomics of the prefrontal cortex in major depressive disorder implicates oligodendrocyte precursor cells and excitatory neurons</a:t>
            </a:r>
          </a:p>
          <a:p>
            <a:pPr marL="0" indent="0">
              <a:lnSpc>
                <a:spcPct val="120000"/>
              </a:lnSpc>
              <a:spcBef>
                <a:spcPts val="0"/>
              </a:spcBef>
              <a:buNone/>
            </a:pPr>
            <a:r>
              <a:rPr lang="en-US" sz="1050" dirty="0">
                <a:latin typeface="Arial" panose="020B0604020202020204" pitchFamily="34" charset="0"/>
                <a:cs typeface="Arial" panose="020B0604020202020204" pitchFamily="34" charset="0"/>
                <a:hlinkClick r:id="rId2"/>
              </a:rPr>
              <a:t>https://www.nature.com/articles/s41593-020-0621-y</a:t>
            </a: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Summary Notes on Articles from Dataset</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(Male data only)</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Study + Results:</a:t>
            </a:r>
          </a:p>
          <a:p>
            <a:pPr>
              <a:lnSpc>
                <a:spcPct val="120000"/>
              </a:lnSpc>
              <a:spcBef>
                <a:spcPts val="0"/>
              </a:spcBef>
            </a:pPr>
            <a:r>
              <a:rPr lang="en-US" sz="1050" dirty="0">
                <a:latin typeface="Arial" panose="020B0604020202020204" pitchFamily="34" charset="0"/>
                <a:cs typeface="Arial" panose="020B0604020202020204" pitchFamily="34" charset="0"/>
              </a:rPr>
              <a:t>Used single-nucleus transcriptomics to examine ~80,000 nuclei from the dorsolateral prefrontal cortex (</a:t>
            </a:r>
            <a:r>
              <a:rPr lang="en-US" sz="1050" dirty="0" err="1">
                <a:latin typeface="Arial" panose="020B0604020202020204" pitchFamily="34" charset="0"/>
                <a:cs typeface="Arial" panose="020B0604020202020204" pitchFamily="34" charset="0"/>
              </a:rPr>
              <a:t>dlPFC</a:t>
            </a:r>
            <a:r>
              <a:rPr lang="en-US" sz="1050" dirty="0">
                <a:latin typeface="Arial" panose="020B0604020202020204" pitchFamily="34" charset="0"/>
                <a:cs typeface="Arial" panose="020B0604020202020204" pitchFamily="34" charset="0"/>
              </a:rPr>
              <a:t>) of 17 male individuals with MDD and 17 healthy controls. (post-mortem tissue)</a:t>
            </a:r>
          </a:p>
          <a:p>
            <a:pPr>
              <a:lnSpc>
                <a:spcPct val="120000"/>
              </a:lnSpc>
              <a:spcBef>
                <a:spcPts val="0"/>
              </a:spcBef>
            </a:pPr>
            <a:r>
              <a:rPr lang="en-US" sz="1050" dirty="0">
                <a:latin typeface="Arial" panose="020B0604020202020204" pitchFamily="34" charset="0"/>
                <a:cs typeface="Arial" panose="020B0604020202020204" pitchFamily="34" charset="0"/>
              </a:rPr>
              <a:t>Identified cell-type-specific differentially expressed genes (DEGs)</a:t>
            </a:r>
          </a:p>
          <a:p>
            <a:pPr>
              <a:lnSpc>
                <a:spcPct val="120000"/>
              </a:lnSpc>
              <a:spcBef>
                <a:spcPts val="0"/>
              </a:spcBef>
            </a:pPr>
            <a:r>
              <a:rPr lang="en-US" sz="1050" dirty="0">
                <a:latin typeface="Arial" panose="020B0604020202020204" pitchFamily="34" charset="0"/>
                <a:cs typeface="Arial" panose="020B0604020202020204" pitchFamily="34" charset="0"/>
              </a:rPr>
              <a:t>Identified 26 cellular clusters: over 60% of these showed differential gene expression between groups.</a:t>
            </a:r>
          </a:p>
          <a:p>
            <a:pPr>
              <a:lnSpc>
                <a:spcPct val="120000"/>
              </a:lnSpc>
              <a:spcBef>
                <a:spcPts val="0"/>
              </a:spcBef>
            </a:pPr>
            <a:r>
              <a:rPr lang="en-US" sz="1050" dirty="0">
                <a:latin typeface="Arial" panose="020B0604020202020204" pitchFamily="34" charset="0"/>
                <a:cs typeface="Arial" panose="020B0604020202020204" pitchFamily="34" charset="0"/>
              </a:rPr>
              <a:t>Found greatest dysregulation in deep layer excitatory neurons and immature oligodendrocyte precursor cells (OPCs) (these contributed almost half (47%) of all changes in gene expression).</a:t>
            </a:r>
          </a:p>
          <a:p>
            <a:pPr>
              <a:lnSpc>
                <a:spcPct val="120000"/>
              </a:lnSpc>
              <a:spcBef>
                <a:spcPts val="0"/>
              </a:spcBef>
            </a:pPr>
            <a:r>
              <a:rPr lang="en-US" sz="1050" dirty="0">
                <a:latin typeface="Arial" panose="020B0604020202020204" pitchFamily="34" charset="0"/>
                <a:cs typeface="Arial" panose="020B0604020202020204" pitchFamily="34" charset="0"/>
              </a:rPr>
              <a:t>Authors claim result highlight the importance of </a:t>
            </a:r>
            <a:r>
              <a:rPr lang="en-US" sz="1050" dirty="0" err="1">
                <a:latin typeface="Arial" panose="020B0604020202020204" pitchFamily="34" charset="0"/>
                <a:cs typeface="Arial" panose="020B0604020202020204" pitchFamily="34" charset="0"/>
              </a:rPr>
              <a:t>analysing</a:t>
            </a:r>
            <a:r>
              <a:rPr lang="en-US" sz="1050" dirty="0">
                <a:latin typeface="Arial" panose="020B0604020202020204" pitchFamily="34" charset="0"/>
                <a:cs typeface="Arial" panose="020B0604020202020204" pitchFamily="34" charset="0"/>
              </a:rPr>
              <a:t> cell-type-specific contributions to the disease which could help target research and development of novel treatments.</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Background:</a:t>
            </a:r>
          </a:p>
          <a:p>
            <a:pPr>
              <a:lnSpc>
                <a:spcPct val="120000"/>
              </a:lnSpc>
              <a:spcBef>
                <a:spcPts val="0"/>
              </a:spcBef>
            </a:pPr>
            <a:r>
              <a:rPr lang="en-US" sz="1050" dirty="0">
                <a:latin typeface="Arial" panose="020B0604020202020204" pitchFamily="34" charset="0"/>
                <a:cs typeface="Arial" panose="020B0604020202020204" pitchFamily="34" charset="0"/>
              </a:rPr>
              <a:t>MDD affects 300m worldwide</a:t>
            </a:r>
          </a:p>
          <a:p>
            <a:pPr>
              <a:lnSpc>
                <a:spcPct val="120000"/>
              </a:lnSpc>
              <a:spcBef>
                <a:spcPts val="0"/>
              </a:spcBef>
            </a:pPr>
            <a:r>
              <a:rPr lang="en-US" sz="1050" dirty="0">
                <a:latin typeface="Arial" panose="020B0604020202020204" pitchFamily="34" charset="0"/>
                <a:cs typeface="Arial" panose="020B0604020202020204" pitchFamily="34" charset="0"/>
              </a:rPr>
              <a:t>Some genetic associations detected but still far from understanding causal mechanisms</a:t>
            </a:r>
          </a:p>
          <a:p>
            <a:pPr>
              <a:lnSpc>
                <a:spcPct val="120000"/>
              </a:lnSpc>
              <a:spcBef>
                <a:spcPts val="0"/>
              </a:spcBef>
            </a:pPr>
            <a:r>
              <a:rPr lang="en-US" sz="1050" dirty="0" err="1">
                <a:latin typeface="Arial" panose="020B0604020202020204" pitchFamily="34" charset="0"/>
                <a:cs typeface="Arial" panose="020B0604020202020204" pitchFamily="34" charset="0"/>
              </a:rPr>
              <a:t>Dominent</a:t>
            </a:r>
            <a:r>
              <a:rPr lang="en-US" sz="1050" dirty="0">
                <a:latin typeface="Arial" panose="020B0604020202020204" pitchFamily="34" charset="0"/>
                <a:cs typeface="Arial" panose="020B0604020202020204" pitchFamily="34" charset="0"/>
              </a:rPr>
              <a:t> view for decades = MDD as dysregulation of monoaminergic system - therefore implicating serotonergic and noradrenergic systems</a:t>
            </a:r>
          </a:p>
          <a:p>
            <a:pPr>
              <a:lnSpc>
                <a:spcPct val="120000"/>
              </a:lnSpc>
              <a:spcBef>
                <a:spcPts val="0"/>
              </a:spcBef>
            </a:pPr>
            <a:r>
              <a:rPr lang="en-US" sz="1050" dirty="0">
                <a:latin typeface="Arial" panose="020B0604020202020204" pitchFamily="34" charset="0"/>
                <a:cs typeface="Arial" panose="020B0604020202020204" pitchFamily="34" charset="0"/>
              </a:rPr>
              <a:t>BUT other factors identified recently, </a:t>
            </a:r>
            <a:r>
              <a:rPr lang="en-US" sz="1050" dirty="0" err="1">
                <a:latin typeface="Arial" panose="020B0604020202020204" pitchFamily="34" charset="0"/>
                <a:cs typeface="Arial" panose="020B0604020202020204" pitchFamily="34" charset="0"/>
              </a:rPr>
              <a:t>iincluding</a:t>
            </a:r>
            <a:r>
              <a:rPr lang="en-US" sz="1050" dirty="0">
                <a:latin typeface="Arial" panose="020B0604020202020204" pitchFamily="34" charset="0"/>
                <a:cs typeface="Arial" panose="020B0604020202020204" pitchFamily="34" charset="0"/>
              </a:rPr>
              <a:t> glutamatergic and GABAergic, glial cell function, blood–brain barrier integrity and inflammation.</a:t>
            </a:r>
          </a:p>
          <a:p>
            <a:pPr>
              <a:lnSpc>
                <a:spcPct val="120000"/>
              </a:lnSpc>
              <a:spcBef>
                <a:spcPts val="0"/>
              </a:spcBef>
            </a:pPr>
            <a:r>
              <a:rPr lang="en-US" sz="1050" dirty="0">
                <a:latin typeface="Arial" panose="020B0604020202020204" pitchFamily="34" charset="0"/>
                <a:cs typeface="Arial" panose="020B0604020202020204" pitchFamily="34" charset="0"/>
              </a:rPr>
              <a:t>Cell-type specific investigations important given wide variety of cell-types implicated</a:t>
            </a:r>
          </a:p>
          <a:p>
            <a:pPr>
              <a:lnSpc>
                <a:spcPct val="120000"/>
              </a:lnSpc>
              <a:spcBef>
                <a:spcPts val="0"/>
              </a:spcBef>
            </a:pPr>
            <a:r>
              <a:rPr lang="en-US" sz="1050" dirty="0">
                <a:latin typeface="Arial" panose="020B0604020202020204" pitchFamily="34" charset="0"/>
                <a:cs typeface="Arial" panose="020B0604020202020204" pitchFamily="34" charset="0"/>
              </a:rPr>
              <a:t>Single-cell sequencing approaches revealed that gene expression patterns in the brain are cell-type specific (even between subtypes of neurons and glial cells) - therefore issues with bulk tissue analysis</a:t>
            </a:r>
          </a:p>
          <a:p>
            <a:pPr>
              <a:lnSpc>
                <a:spcPct val="120000"/>
              </a:lnSpc>
              <a:spcBef>
                <a:spcPts val="0"/>
              </a:spcBef>
            </a:pPr>
            <a:r>
              <a:rPr lang="en-US" sz="1050" dirty="0">
                <a:latin typeface="Arial" panose="020B0604020202020204" pitchFamily="34" charset="0"/>
                <a:cs typeface="Arial" panose="020B0604020202020204" pitchFamily="34" charset="0"/>
              </a:rPr>
              <a:t>New techniques for high-throughput single-cell RNA sequencing (</a:t>
            </a:r>
            <a:r>
              <a:rPr lang="en-US" sz="1050" dirty="0" err="1">
                <a:latin typeface="Arial" panose="020B0604020202020204" pitchFamily="34" charset="0"/>
                <a:cs typeface="Arial" panose="020B0604020202020204" pitchFamily="34" charset="0"/>
              </a:rPr>
              <a:t>scRNA</a:t>
            </a:r>
            <a:r>
              <a:rPr lang="en-US" sz="1050" dirty="0">
                <a:latin typeface="Arial" panose="020B0604020202020204" pitchFamily="34" charset="0"/>
                <a:cs typeface="Arial" panose="020B0604020202020204" pitchFamily="34" charset="0"/>
              </a:rPr>
              <a:t>-seq) and single-nucleus RNA sequencing (snRNA-seq) (sequence nucleus not intact cell) provide a solution. This study used snRNA-seq.</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0884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63757-D6DD-D3A0-E511-37B90CC41A5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EA1CFB3-54BD-1B4C-CAE4-90535BF153E3}"/>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4512B39A-AC65-4BA5-F6A9-F7D3AFBA0ABA}"/>
              </a:ext>
            </a:extLst>
          </p:cNvPr>
          <p:cNvSpPr>
            <a:spLocks noGrp="1"/>
          </p:cNvSpPr>
          <p:nvPr>
            <p:ph idx="1"/>
          </p:nvPr>
        </p:nvSpPr>
        <p:spPr>
          <a:xfrm>
            <a:off x="838200" y="1352939"/>
            <a:ext cx="10515600"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Project notes - Further research questions</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1. How does neuroinflammation affect the function of PV interneurons in patients with MDD, and can ketamine counteract these effects?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Chronic stress and neuroinflammation have been shown to impact the functionality of PV interneurons, disrupting inhibitory control in the prefrontal cortex, which is critical in MDD pathology. Exploring how inflammatory markers such as IL-6 and TNF-α alter PV interneuron function and whether ketamine’s known anti-inflammatory properties can restore their activity could provide valuable insights. This research might support the hypothesis that targeting inflammation could enhance ketamine’s therapeutic efficacy, ultimately leading to more individualized treatment strategies. (</a:t>
            </a:r>
            <a:r>
              <a:rPr lang="en-US" sz="1050" dirty="0" err="1">
                <a:latin typeface="Arial" panose="020B0604020202020204" pitchFamily="34" charset="0"/>
                <a:cs typeface="Arial" panose="020B0604020202020204" pitchFamily="34" charset="0"/>
              </a:rPr>
              <a:t>Beurel</a:t>
            </a:r>
            <a:r>
              <a:rPr lang="en-US" sz="1050" dirty="0">
                <a:latin typeface="Arial" panose="020B0604020202020204" pitchFamily="34" charset="0"/>
                <a:cs typeface="Arial" panose="020B0604020202020204" pitchFamily="34" charset="0"/>
              </a:rPr>
              <a:t> et al., 2020).</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2. What are the long-term effects of ketamine on PV interneuron plasticity and connectivity in the prefrontal cortex?</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Ketamine’s rapid antidepressant effects are well-documented, but its long-term impact on PV interneurons, particularly regarding their plasticity and network connectivity, remains underexplored. Investigating whether repeated ketamine administration induces lasting structural and functional changes in PV interneurons could shed light on its potential for sustained therapeutic benefits or risks, such as cognitive side effects. Insights from longitudinal studies could inform treatment protocols to maximize benefits while minimizing adverse effects. (Abdallah et al., 2018).</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References</a:t>
            </a:r>
          </a:p>
          <a:p>
            <a:pPr marL="0" indent="0">
              <a:lnSpc>
                <a:spcPct val="120000"/>
              </a:lnSpc>
              <a:spcBef>
                <a:spcPts val="0"/>
              </a:spcBef>
              <a:buNone/>
            </a:pPr>
            <a:r>
              <a:rPr lang="en-US" sz="1050" dirty="0" err="1">
                <a:latin typeface="Arial" panose="020B0604020202020204" pitchFamily="34" charset="0"/>
                <a:cs typeface="Arial" panose="020B0604020202020204" pitchFamily="34" charset="0"/>
              </a:rPr>
              <a:t>Beurel</a:t>
            </a:r>
            <a:r>
              <a:rPr lang="en-US" sz="1050" dirty="0">
                <a:latin typeface="Arial" panose="020B0604020202020204" pitchFamily="34" charset="0"/>
                <a:cs typeface="Arial" panose="020B0604020202020204" pitchFamily="34" charset="0"/>
              </a:rPr>
              <a:t>, E., Toups, M., &amp; Nemeroff, C. B. (2020). The Bidirectional Relationship of Depression and Inflammation: Double Trouble. Neuron, 107(2), 234–256. https://doi.org/10.1016/j.neuron.2020.06.002</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Abdallah, C. G., </a:t>
            </a:r>
            <a:r>
              <a:rPr lang="en-US" sz="1050" dirty="0" err="1">
                <a:latin typeface="Arial" panose="020B0604020202020204" pitchFamily="34" charset="0"/>
                <a:cs typeface="Arial" panose="020B0604020202020204" pitchFamily="34" charset="0"/>
              </a:rPr>
              <a:t>Sanacora</a:t>
            </a:r>
            <a:r>
              <a:rPr lang="en-US" sz="1050" dirty="0">
                <a:latin typeface="Arial" panose="020B0604020202020204" pitchFamily="34" charset="0"/>
                <a:cs typeface="Arial" panose="020B0604020202020204" pitchFamily="34" charset="0"/>
              </a:rPr>
              <a:t>, G., Duman, R. S., &amp; Krystal, J. H. (2018). The neurobiology of depression, ketamine and rapid-acting antidepressants: Is it glutamate inhibition or activation? Pharmacology &amp; Therapeutics, 190, 148–158. </a:t>
            </a:r>
            <a:r>
              <a:rPr lang="en-US" sz="1050" dirty="0">
                <a:solidFill>
                  <a:srgbClr val="467886"/>
                </a:solidFill>
                <a:latin typeface="Arial" panose="020B0604020202020204" pitchFamily="34" charset="0"/>
                <a:cs typeface="Arial" panose="020B0604020202020204" pitchFamily="34" charset="0"/>
                <a:hlinkClick r:id="rId2"/>
              </a:rPr>
              <a:t>https://doi.org/10.1016/j.pharmthera.2018.05.010</a:t>
            </a:r>
            <a:endParaRPr lang="en-US" sz="1050" dirty="0">
              <a:solidFill>
                <a:srgbClr val="46788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0779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8EADB-8268-4084-4E5D-6C4606D324F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D568BF6-5F35-7C5A-D605-5F0069C29A42}"/>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298A7C84-91BA-CBFB-95F4-8EE094CB59ED}"/>
              </a:ext>
            </a:extLst>
          </p:cNvPr>
          <p:cNvSpPr>
            <a:spLocks noGrp="1"/>
          </p:cNvSpPr>
          <p:nvPr>
            <p:ph idx="1"/>
          </p:nvPr>
        </p:nvSpPr>
        <p:spPr>
          <a:xfrm>
            <a:off x="838200" y="1315617"/>
            <a:ext cx="10515600" cy="4824024"/>
          </a:xfrm>
        </p:spPr>
        <p:txBody>
          <a:bodyPr>
            <a:noAutofit/>
          </a:bodyPr>
          <a:lstStyle/>
          <a:p>
            <a:pPr marL="0" indent="0">
              <a:lnSpc>
                <a:spcPct val="120000"/>
              </a:lnSpc>
              <a:spcBef>
                <a:spcPts val="0"/>
              </a:spcBef>
              <a:buNone/>
            </a:pPr>
            <a:r>
              <a:rPr lang="en-US" sz="1000" b="1" dirty="0">
                <a:latin typeface="Arial" panose="020B0604020202020204" pitchFamily="34" charset="0"/>
                <a:cs typeface="Arial" panose="020B0604020202020204" pitchFamily="34" charset="0"/>
              </a:rPr>
              <a:t>Analysis on “Further research questions”</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1. How does neuroinflammation affect the function of PV interneurons in patients with MDD, and can ketamine counteract these effects?</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Chronic stress and neuroinflammation have been shown to impact the functionality of PV interneurons, disrupting inhibitory control in the prefrontal cortex, which is critical in MDD pathology. Exploring how inflammatory markers such as IL-6 and TNF-α alter PV interneuron function and whether ketamine’s known anti-inflammatory properties can restore their activity could provide valuable insights. This research might support the hypothesis that targeting inflammation could enhance ketamine’s therapeutic efficacy, ultimately leading to more individualized treatment strategies. (</a:t>
            </a:r>
            <a:r>
              <a:rPr lang="en-US" sz="1000" dirty="0" err="1">
                <a:latin typeface="Arial" panose="020B0604020202020204" pitchFamily="34" charset="0"/>
                <a:cs typeface="Arial" panose="020B0604020202020204" pitchFamily="34" charset="0"/>
              </a:rPr>
              <a:t>Beurel</a:t>
            </a:r>
            <a:r>
              <a:rPr lang="en-US" sz="1000" dirty="0">
                <a:latin typeface="Arial" panose="020B0604020202020204" pitchFamily="34" charset="0"/>
                <a:cs typeface="Arial" panose="020B0604020202020204" pitchFamily="34" charset="0"/>
              </a:rPr>
              <a:t> et al., 2020).</a:t>
            </a:r>
          </a:p>
          <a:p>
            <a:pPr marL="0" indent="0">
              <a:lnSpc>
                <a:spcPct val="120000"/>
              </a:lnSpc>
              <a:spcBef>
                <a:spcPts val="0"/>
              </a:spcBef>
              <a:buNone/>
            </a:pP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b="1" dirty="0">
                <a:latin typeface="Arial" panose="020B0604020202020204" pitchFamily="34" charset="0"/>
                <a:cs typeface="Arial" panose="020B0604020202020204" pitchFamily="34" charset="0"/>
              </a:rPr>
              <a:t>The Bidirectional Relationship of Depression and Inflammation: Double Trouble </a:t>
            </a:r>
            <a:r>
              <a:rPr lang="de-AT" sz="1000" b="1" dirty="0">
                <a:latin typeface="Arial" panose="020B0604020202020204" pitchFamily="34" charset="0"/>
                <a:cs typeface="Arial" panose="020B0604020202020204" pitchFamily="34" charset="0"/>
              </a:rPr>
              <a:t>(</a:t>
            </a:r>
            <a:r>
              <a:rPr lang="de-AT" sz="1000" b="1" dirty="0" err="1">
                <a:latin typeface="Arial" panose="020B0604020202020204" pitchFamily="34" charset="0"/>
                <a:cs typeface="Arial" panose="020B0604020202020204" pitchFamily="34" charset="0"/>
              </a:rPr>
              <a:t>Beurel</a:t>
            </a:r>
            <a:r>
              <a:rPr lang="de-AT" sz="1000" b="1" dirty="0">
                <a:latin typeface="Arial" panose="020B0604020202020204" pitchFamily="34" charset="0"/>
                <a:cs typeface="Arial" panose="020B0604020202020204" pitchFamily="34" charset="0"/>
              </a:rPr>
              <a:t> 2020)</a:t>
            </a:r>
          </a:p>
          <a:p>
            <a:pPr marL="0" indent="0">
              <a:lnSpc>
                <a:spcPct val="120000"/>
              </a:lnSpc>
              <a:spcBef>
                <a:spcPts val="0"/>
              </a:spcBef>
              <a:buNone/>
            </a:pPr>
            <a:r>
              <a:rPr lang="de-AT" sz="1000" dirty="0">
                <a:latin typeface="Arial" panose="020B0604020202020204" pitchFamily="34" charset="0"/>
                <a:cs typeface="Arial" panose="020B0604020202020204" pitchFamily="34" charset="0"/>
                <a:hlinkClick r:id="rId2"/>
              </a:rPr>
              <a:t>https://doi.org/10.1016/j.neuron.2020.06.002</a:t>
            </a:r>
            <a:r>
              <a:rPr lang="de-AT" sz="1000" dirty="0">
                <a:latin typeface="Arial" panose="020B0604020202020204" pitchFamily="34" charset="0"/>
                <a:cs typeface="Arial" panose="020B0604020202020204" pitchFamily="34" charset="0"/>
              </a:rPr>
              <a:t> </a:t>
            </a:r>
            <a:endParaRPr lang="en-US" sz="10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indent="0">
              <a:lnSpc>
                <a:spcPct val="120000"/>
              </a:lnSpc>
              <a:spcBef>
                <a:spcPts val="0"/>
              </a:spcBef>
              <a:buNone/>
            </a:pPr>
            <a:r>
              <a:rPr lang="en-US" sz="1000" b="1" dirty="0">
                <a:latin typeface="Arial" panose="020B0604020202020204" pitchFamily="34" charset="0"/>
                <a:cs typeface="Arial" panose="020B0604020202020204" pitchFamily="34" charset="0"/>
              </a:rPr>
              <a:t>Abstract</a:t>
            </a: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dirty="0">
                <a:latin typeface="Arial" panose="020B0604020202020204" pitchFamily="34" charset="0"/>
                <a:cs typeface="Arial" panose="020B0604020202020204" pitchFamily="34" charset="0"/>
              </a:rPr>
              <a:t>Depression represents the number one cause of disability worldwide and is often fatal. Inflammatory processes have been implicated in the pathophysiology of depression. It is now well established that dysregulation of both the innate and adaptive immune systems occur in depressed patients and hinder favorable prognosis, including antidepressant responses. In this review, we describe how the immune system regulates mood and the potential causes of the dysregulated inflammatory responses in depressed patients. However, the proportion of never-treated major depressive disorder (MDD) patients who exhibit inflammation remains to be clarified, as the heterogeneity in inflammation findings may stem in part from examining MDD patients with varied interventions. Inflammation is likely a critical disease modifier, promoting susceptibility</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to depression. Controlling inflammation might provide an overall therapeutic benefit, regardless of whether it is secondary to early life trauma, a more acute stress response, microbiome alterations, a genetic diathesis, or a combination of these and other factors.</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Recent findings have shown that microglia are important for synaptic modulation (e.g., synapse pruning and neurogenesis) and are activated in many neurodegenerative and neuropsychiatric diseases, where they contribute to pathology by promoting neuroinflammation (</a:t>
            </a:r>
            <a:r>
              <a:rPr lang="en-US" sz="1000" dirty="0" err="1">
                <a:latin typeface="Arial" panose="020B0604020202020204" pitchFamily="34" charset="0"/>
                <a:cs typeface="Arial" panose="020B0604020202020204" pitchFamily="34" charset="0"/>
              </a:rPr>
              <a:t>Yirmiya</a:t>
            </a:r>
            <a:r>
              <a:rPr lang="en-US" sz="1000" dirty="0">
                <a:latin typeface="Arial" panose="020B0604020202020204" pitchFamily="34" charset="0"/>
                <a:cs typeface="Arial" panose="020B0604020202020204" pitchFamily="34" charset="0"/>
              </a:rPr>
              <a:t> et al., 2015). The heterogeneity of microglia suggests that microglia subsets have distinct roles in the brain (Masudaetal.,2019), but a more complete understanding of the complex roles of microglia is necessary to provide further insights in understanding their role in brain function and pathology. Interfaces between CNS and Peripheral Immunity There is a role for non-microglial cells in CNS immunity with three other types of CNS macrophages: perivascular, meningeal, and choroid plexus macrophages (for review, see Li and Barres, 2018) as well as lymphoid cells (</a:t>
            </a:r>
            <a:r>
              <a:rPr lang="en-US" sz="1000" dirty="0" err="1">
                <a:latin typeface="Arial" panose="020B0604020202020204" pitchFamily="34" charset="0"/>
                <a:cs typeface="Arial" panose="020B0604020202020204" pitchFamily="34" charset="0"/>
              </a:rPr>
              <a:t>Beurel</a:t>
            </a:r>
            <a:r>
              <a:rPr lang="en-US" sz="1000" dirty="0">
                <a:latin typeface="Arial" panose="020B0604020202020204" pitchFamily="34" charset="0"/>
                <a:cs typeface="Arial" panose="020B0604020202020204" pitchFamily="34" charset="0"/>
              </a:rPr>
              <a:t> and Lowell, 2018). </a:t>
            </a:r>
          </a:p>
          <a:p>
            <a:pPr marL="0" indent="0">
              <a:lnSpc>
                <a:spcPct val="120000"/>
              </a:lnSpc>
              <a:spcBef>
                <a:spcPts val="0"/>
              </a:spcBef>
              <a:buNone/>
            </a:pPr>
            <a:endParaRPr lang="en-US" sz="1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00" b="1" dirty="0">
                <a:latin typeface="Arial" panose="020B0604020202020204" pitchFamily="34" charset="0"/>
                <a:cs typeface="Arial" panose="020B0604020202020204" pitchFamily="34" charset="0"/>
              </a:rPr>
              <a:t>Key words</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Neuroinflammation (incl. central immune dysregulation), Microglia, Central cytokines, Signals from the environment, </a:t>
            </a:r>
            <a:r>
              <a:rPr lang="en-US" sz="1000" dirty="0" err="1">
                <a:latin typeface="Arial" panose="020B0604020202020204" pitchFamily="34" charset="0"/>
                <a:cs typeface="Arial" panose="020B0604020202020204" pitchFamily="34" charset="0"/>
              </a:rPr>
              <a:t>Kynurenin</a:t>
            </a:r>
            <a:r>
              <a:rPr lang="en-US" sz="1000" dirty="0">
                <a:latin typeface="Arial" panose="020B0604020202020204" pitchFamily="34" charset="0"/>
                <a:cs typeface="Arial" panose="020B0604020202020204" pitchFamily="34" charset="0"/>
              </a:rPr>
              <a:t> pathways, mesenchymal stem cell therapy, IL-6, Cytokine production, Genetic contribution</a:t>
            </a:r>
          </a:p>
          <a:p>
            <a:pPr marL="0" indent="0">
              <a:lnSpc>
                <a:spcPct val="120000"/>
              </a:lnSpc>
              <a:spcBef>
                <a:spcPts val="0"/>
              </a:spcBef>
              <a:buNone/>
            </a:pPr>
            <a:r>
              <a:rPr lang="en-US" sz="1000" dirty="0">
                <a:latin typeface="Arial" panose="020B0604020202020204" pitchFamily="34" charset="0"/>
                <a:cs typeface="Arial" panose="020B0604020202020204" pitchFamily="34" charset="0"/>
              </a:rPr>
              <a:t>Nothing about ketamine and parvalbumin interneurons</a:t>
            </a:r>
          </a:p>
          <a:p>
            <a:pPr marL="0" indent="0">
              <a:lnSpc>
                <a:spcPct val="120000"/>
              </a:lnSpc>
              <a:spcBef>
                <a:spcPts val="0"/>
              </a:spcBef>
              <a:buNone/>
            </a:pP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9187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898C-A23B-2837-4808-3A9D0B5FEF7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33A6A3A-21F5-C0D2-B02E-7E475CE860C2}"/>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2AB4CC36-73DF-EC47-4361-2F3B202B77D8}"/>
              </a:ext>
            </a:extLst>
          </p:cNvPr>
          <p:cNvSpPr>
            <a:spLocks noGrp="1"/>
          </p:cNvSpPr>
          <p:nvPr>
            <p:ph idx="1"/>
          </p:nvPr>
        </p:nvSpPr>
        <p:spPr>
          <a:xfrm>
            <a:off x="838200" y="1352939"/>
            <a:ext cx="10515600"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The Bidirectional Relationship of Depression and Inflammation: Double Trouble </a:t>
            </a:r>
            <a:r>
              <a:rPr lang="de-AT" sz="1050" b="1" dirty="0">
                <a:latin typeface="Arial" panose="020B0604020202020204" pitchFamily="34" charset="0"/>
                <a:cs typeface="Arial" panose="020B0604020202020204" pitchFamily="34" charset="0"/>
              </a:rPr>
              <a:t>(</a:t>
            </a:r>
            <a:r>
              <a:rPr lang="de-AT" sz="1050" b="1" dirty="0" err="1">
                <a:latin typeface="Arial" panose="020B0604020202020204" pitchFamily="34" charset="0"/>
                <a:cs typeface="Arial" panose="020B0604020202020204" pitchFamily="34" charset="0"/>
              </a:rPr>
              <a:t>Beurel</a:t>
            </a:r>
            <a:r>
              <a:rPr lang="de-AT" sz="1050" b="1" dirty="0">
                <a:latin typeface="Arial" panose="020B0604020202020204" pitchFamily="34" charset="0"/>
                <a:cs typeface="Arial" panose="020B0604020202020204" pitchFamily="34" charset="0"/>
              </a:rPr>
              <a:t> 2020)</a:t>
            </a: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de-AT" sz="1050" dirty="0">
                <a:latin typeface="Arial" panose="020B0604020202020204" pitchFamily="34" charset="0"/>
                <a:cs typeface="Arial" panose="020B0604020202020204" pitchFamily="34" charset="0"/>
                <a:hlinkClick r:id="rId2"/>
              </a:rPr>
              <a:t>https://doi.org/10.1016/j.neuron.2020.06.002</a:t>
            </a:r>
            <a:r>
              <a:rPr lang="de-AT" sz="1050" dirty="0">
                <a:latin typeface="Arial" panose="020B0604020202020204" pitchFamily="34" charset="0"/>
                <a:cs typeface="Arial" panose="020B0604020202020204" pitchFamily="34" charset="0"/>
              </a:rPr>
              <a:t> </a:t>
            </a: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endParaRPr lang="de-AT"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 </a:t>
            </a:r>
            <a:r>
              <a:rPr lang="en-US" sz="1050" dirty="0">
                <a:latin typeface="Arial" panose="020B0604020202020204" pitchFamily="34" charset="0"/>
                <a:cs typeface="Arial" panose="020B0604020202020204" pitchFamily="34" charset="0"/>
              </a:rPr>
              <a:t>Table 2. Open Research Questions</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 1. Does dysregulation of the immune system contribute to MDD pathology?</a:t>
            </a: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 What are the important immune system components that contribute to MDD?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Do these act independently or in synergy to promote MDD?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Is central or peripheral immune system dysregulation mediating the effects?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What are the CNS systems that are altered by the immune system dysregulation that promote MDD?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Are there different immune system alterations that promote MDD in different individuals, or are specific changes common to many MDD patients?</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 2. What causes immune system dysregulation linked to MDD?</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 </a:t>
            </a:r>
            <a:r>
              <a:rPr lang="en-US" sz="1050" dirty="0">
                <a:latin typeface="Arial" panose="020B0604020202020204" pitchFamily="34" charset="0"/>
                <a:cs typeface="Arial" panose="020B0604020202020204" pitchFamily="34" charset="0"/>
              </a:rPr>
              <a:t>To what extent do genetic influences determine these immune system characteristics?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Does stress (and is it acute or chronic) contribute to immune dysregulation linked to MDD?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How does the environment modulate the immune system dysregulation linked to MDD?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Do repeated episodes of depression cause long-lasting changes in immune characteristics?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Does the microbiome contribute to immune system dysregulation in MDD?</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 3. Can treating immune system dysregulation facilitate recovery from MDD and/or promote resilience to MDD onset?</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 </a:t>
            </a:r>
            <a:r>
              <a:rPr lang="en-US" sz="1050" dirty="0">
                <a:latin typeface="Arial" panose="020B0604020202020204" pitchFamily="34" charset="0"/>
                <a:cs typeface="Arial" panose="020B0604020202020204" pitchFamily="34" charset="0"/>
              </a:rPr>
              <a:t>What are the immune system targets that are effective interventions for MDD?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Can controlling the stress response normalize immune system characteristics?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Is controlling peripheral immune system characteristics sufficient to counteract MDD or does the central immune system need to be targeted?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Do non-invasive interventions (therapy, nutrition, exercise) normalize immune system alterations associated with MDD?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 Are microbiome interventions that alter the immune system effective in MDD?</a:t>
            </a:r>
            <a:endParaRPr lang="de-AT" sz="1050" dirty="0">
              <a:latin typeface="Arial" panose="020B0604020202020204" pitchFamily="34" charset="0"/>
              <a:cs typeface="Arial" panose="020B0604020202020204" pitchFamily="34" charset="0"/>
            </a:endParaRPr>
          </a:p>
          <a:p>
            <a:pPr>
              <a:lnSpc>
                <a:spcPct val="120000"/>
              </a:lnSpc>
              <a:spcBef>
                <a:spcPts val="0"/>
              </a:spcBef>
            </a:pPr>
            <a:endParaRPr lang="de-AT" sz="105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6809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4AB4A-4250-8C22-1642-3080EFBCD4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51D2B3E-DFF2-63DC-F8B4-6D182A83654B}"/>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198096E0-A85E-DC3B-D7FB-A66B1EDAFF5F}"/>
              </a:ext>
            </a:extLst>
          </p:cNvPr>
          <p:cNvSpPr>
            <a:spLocks noGrp="1"/>
          </p:cNvSpPr>
          <p:nvPr>
            <p:ph idx="1"/>
          </p:nvPr>
        </p:nvSpPr>
        <p:spPr>
          <a:xfrm>
            <a:off x="838200" y="1464902"/>
            <a:ext cx="10515600"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Analysis on “Further research questions”</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2. What are the long-term effects of ketamine on PV interneuron plasticity and connectivity in the prefrontal cortex?</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Ketamine’s rapid antidepressant effects are well-documented, but its long-term impact on PV interneurons, particularly regarding their plasticity and network connectivity, remains underexplored. Investigating whether repeated ketamine administration induces lasting structural and functional changes in PV interneurons could shed light on its potential for sustained therapeutic benefits or risks, such as cognitive side effects. Insights from longitudinal studies could inform treatment protocols to maximize benefits while minimizing adverse effects. (Abdallah et al., 2018).</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Abdallah, C. G., </a:t>
            </a:r>
            <a:r>
              <a:rPr lang="en-US" sz="1050" dirty="0" err="1">
                <a:latin typeface="Arial" panose="020B0604020202020204" pitchFamily="34" charset="0"/>
                <a:cs typeface="Arial" panose="020B0604020202020204" pitchFamily="34" charset="0"/>
              </a:rPr>
              <a:t>Sanacora</a:t>
            </a:r>
            <a:r>
              <a:rPr lang="en-US" sz="1050" dirty="0">
                <a:latin typeface="Arial" panose="020B0604020202020204" pitchFamily="34" charset="0"/>
                <a:cs typeface="Arial" panose="020B0604020202020204" pitchFamily="34" charset="0"/>
              </a:rPr>
              <a:t>, G., Duman, R. S., &amp; Krystal, J. H. (2018). The neurobiology of depression, ketamine and rapid-acting antidepressants: Is it glutamate inhibition or activation? Pharmacology &amp; Therapeutics, 190, 148–158. </a:t>
            </a:r>
            <a:r>
              <a:rPr lang="en-US" sz="1050" dirty="0">
                <a:solidFill>
                  <a:srgbClr val="467886"/>
                </a:solidFill>
                <a:latin typeface="Arial" panose="020B0604020202020204" pitchFamily="34" charset="0"/>
                <a:cs typeface="Arial" panose="020B0604020202020204" pitchFamily="34" charset="0"/>
                <a:hlinkClick r:id="rId2"/>
              </a:rPr>
              <a:t>https://doi.org/10.1016/j.pharmthera.2018.05.010</a:t>
            </a:r>
            <a:endParaRPr lang="en-US" sz="1050" dirty="0">
              <a:solidFill>
                <a:srgbClr val="467886"/>
              </a:solidFill>
              <a:latin typeface="Arial" panose="020B0604020202020204" pitchFamily="34" charset="0"/>
              <a:cs typeface="Arial" panose="020B0604020202020204" pitchFamily="34" charset="0"/>
            </a:endParaRPr>
          </a:p>
          <a:p>
            <a:pPr marL="0" indent="0">
              <a:lnSpc>
                <a:spcPct val="120000"/>
              </a:lnSpc>
              <a:spcBef>
                <a:spcPts val="0"/>
              </a:spcBef>
              <a:buNone/>
            </a:pPr>
            <a:endParaRPr lang="en-US" sz="1050" dirty="0">
              <a:solidFill>
                <a:srgbClr val="467886"/>
              </a:solidFill>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Abstract</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The discovery of the antidepressant effects of ketamine has opened a breakthrough opportunity to develop a truly novel class of safe, effective, and rapid-acting antidepressants (RAADs). In addition, the rapid and robust biological and behavioral effects of ketamine offered a unique opportunity to utilize the drug as a tool to thoroughly investigate the neurobiology of stress and depression in animals, and to develop sensitive and reproducible biomarkers in humans. The </a:t>
            </a:r>
            <a:r>
              <a:rPr lang="en-US" sz="1050" dirty="0" err="1">
                <a:latin typeface="Arial" panose="020B0604020202020204" pitchFamily="34" charset="0"/>
                <a:cs typeface="Arial" panose="020B0604020202020204" pitchFamily="34" charset="0"/>
              </a:rPr>
              <a:t>ketamineliterature</a:t>
            </a:r>
            <a:r>
              <a:rPr lang="en-US" sz="1050" dirty="0">
                <a:latin typeface="Arial" panose="020B0604020202020204" pitchFamily="34" charset="0"/>
                <a:cs typeface="Arial" panose="020B0604020202020204" pitchFamily="34" charset="0"/>
              </a:rPr>
              <a:t> over </a:t>
            </a:r>
            <a:r>
              <a:rPr lang="en-US" sz="1050" dirty="0" err="1">
                <a:latin typeface="Arial" panose="020B0604020202020204" pitchFamily="34" charset="0"/>
                <a:cs typeface="Arial" panose="020B0604020202020204" pitchFamily="34" charset="0"/>
              </a:rPr>
              <a:t>thepast</a:t>
            </a:r>
            <a:r>
              <a:rPr lang="en-US" sz="1050" dirty="0">
                <a:latin typeface="Arial" panose="020B0604020202020204" pitchFamily="34" charset="0"/>
                <a:cs typeface="Arial" panose="020B0604020202020204" pitchFamily="34" charset="0"/>
              </a:rPr>
              <a:t> </a:t>
            </a:r>
            <a:r>
              <a:rPr lang="en-US" sz="1050" dirty="0" err="1">
                <a:latin typeface="Arial" panose="020B0604020202020204" pitchFamily="34" charset="0"/>
                <a:cs typeface="Arial" panose="020B0604020202020204" pitchFamily="34" charset="0"/>
              </a:rPr>
              <a:t>twodecadeshasconsiderablyenrichedour</a:t>
            </a:r>
            <a:r>
              <a:rPr lang="en-US" sz="1050" dirty="0">
                <a:latin typeface="Arial" panose="020B0604020202020204" pitchFamily="34" charset="0"/>
                <a:cs typeface="Arial" panose="020B0604020202020204" pitchFamily="34" charset="0"/>
              </a:rPr>
              <a:t> understanding of the mechanisms underlying chronic stress, depression, and RAADs. However, considering the complexity of the pharmacokinetics and in vivo pharmacodynamics of ketamine, several questions remain unanswered and, at times, even answered questions continue to be considered controversial or at least not fully understood. The current perspective paper summarizes our understanding of the neurobiology of depression, and the mechanisms of action of ketamine and other </a:t>
            </a:r>
            <a:r>
              <a:rPr lang="en-US" sz="1050" dirty="0" err="1">
                <a:latin typeface="Arial" panose="020B0604020202020204" pitchFamily="34" charset="0"/>
                <a:cs typeface="Arial" panose="020B0604020202020204" pitchFamily="34" charset="0"/>
              </a:rPr>
              <a:t>RAADs.Thereviewfocuses</a:t>
            </a:r>
            <a:r>
              <a:rPr lang="en-US" sz="1050" dirty="0">
                <a:latin typeface="Arial" panose="020B0604020202020204" pitchFamily="34" charset="0"/>
                <a:cs typeface="Arial" panose="020B0604020202020204" pitchFamily="34" charset="0"/>
              </a:rPr>
              <a:t> on </a:t>
            </a:r>
            <a:r>
              <a:rPr lang="en-US" sz="1050" dirty="0" err="1">
                <a:latin typeface="Arial" panose="020B0604020202020204" pitchFamily="34" charset="0"/>
                <a:cs typeface="Arial" panose="020B0604020202020204" pitchFamily="34" charset="0"/>
              </a:rPr>
              <a:t>theroleofglutamate</a:t>
            </a:r>
            <a:r>
              <a:rPr lang="en-US" sz="1050" dirty="0">
                <a:latin typeface="Arial" panose="020B0604020202020204" pitchFamily="34" charset="0"/>
                <a:cs typeface="Arial" panose="020B0604020202020204" pitchFamily="34" charset="0"/>
              </a:rPr>
              <a:t> neurotransmission– reviewing the history of the “glutamate inhibition” and “glutamate activation” hypotheses, proposing a synaptic connectivity model of chronic stress pathology, and describing the mechanism of action of ketamine. It will also summarize the clinical efficacy findings of putative RAADs, present relevant human biomarker findings, and discuss current challenges and future directions</a:t>
            </a:r>
            <a:endParaRPr lang="de-AT"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388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F26D-2436-69FB-CD05-C700F16CAB7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775F1F8-819E-764A-E5F7-A913A435CF7B}"/>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CC147F4F-1E50-CB3A-149B-A9A7D10B2A96}"/>
              </a:ext>
            </a:extLst>
          </p:cNvPr>
          <p:cNvSpPr>
            <a:spLocks noGrp="1"/>
          </p:cNvSpPr>
          <p:nvPr>
            <p:ph idx="1"/>
          </p:nvPr>
        </p:nvSpPr>
        <p:spPr>
          <a:xfrm>
            <a:off x="838200" y="1352939"/>
            <a:ext cx="10515600"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Analysis on - Further research questions</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Abdallah, C. G., </a:t>
            </a:r>
            <a:r>
              <a:rPr lang="en-US" sz="1050" dirty="0" err="1">
                <a:latin typeface="Arial" panose="020B0604020202020204" pitchFamily="34" charset="0"/>
                <a:cs typeface="Arial" panose="020B0604020202020204" pitchFamily="34" charset="0"/>
              </a:rPr>
              <a:t>Sanacora</a:t>
            </a:r>
            <a:r>
              <a:rPr lang="en-US" sz="1050" dirty="0">
                <a:latin typeface="Arial" panose="020B0604020202020204" pitchFamily="34" charset="0"/>
                <a:cs typeface="Arial" panose="020B0604020202020204" pitchFamily="34" charset="0"/>
              </a:rPr>
              <a:t>, G., Duman, R. S., &amp; Krystal, J. H. (2018). The neurobiology of depression, ketamine and rapid-acting antidepressants: Is it glutamate inhibition or activation? Pharmacology &amp; Therapeutics, 190, 148–158. </a:t>
            </a:r>
            <a:r>
              <a:rPr lang="en-US" sz="1050" dirty="0">
                <a:solidFill>
                  <a:srgbClr val="467886"/>
                </a:solidFill>
                <a:latin typeface="Arial" panose="020B0604020202020204" pitchFamily="34" charset="0"/>
                <a:cs typeface="Arial" panose="020B0604020202020204" pitchFamily="34" charset="0"/>
                <a:hlinkClick r:id="rId2"/>
              </a:rPr>
              <a:t>https://doi.org/10.1016/j.pharmthera.2018.05.010</a:t>
            </a:r>
            <a:endParaRPr lang="en-US" sz="1050" dirty="0">
              <a:solidFill>
                <a:srgbClr val="467886"/>
              </a:solidFill>
              <a:latin typeface="Arial" panose="020B0604020202020204" pitchFamily="34" charset="0"/>
              <a:cs typeface="Arial" panose="020B0604020202020204" pitchFamily="34" charset="0"/>
            </a:endParaRPr>
          </a:p>
          <a:p>
            <a:pPr marL="0" indent="0">
              <a:lnSpc>
                <a:spcPct val="120000"/>
              </a:lnSpc>
              <a:spcBef>
                <a:spcPts val="0"/>
              </a:spcBef>
              <a:buNone/>
            </a:pPr>
            <a:endParaRPr lang="en-US" sz="1050" dirty="0">
              <a:solidFill>
                <a:srgbClr val="467886"/>
              </a:solidFill>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Introduction</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Serendipity, combined with astute clinical observations, has dominated the path to drug discovery in psychiatry (Klein, 2008). In 1951, the first antipsychotic drug was discovered unexpectedly, as chlorpromazine was being developed for potentiating anesthesia. The f </a:t>
            </a:r>
            <a:r>
              <a:rPr lang="en-US" sz="1050" dirty="0" err="1">
                <a:latin typeface="Arial" panose="020B0604020202020204" pitchFamily="34" charset="0"/>
                <a:cs typeface="Arial" panose="020B0604020202020204" pitchFamily="34" charset="0"/>
              </a:rPr>
              <a:t>irst</a:t>
            </a:r>
            <a:r>
              <a:rPr lang="en-US" sz="1050" dirty="0">
                <a:latin typeface="Arial" panose="020B0604020202020204" pitchFamily="34" charset="0"/>
                <a:cs typeface="Arial" panose="020B0604020202020204" pitchFamily="34" charset="0"/>
              </a:rPr>
              <a:t> tricyclic antidepressant, imipramine, was synthesized in 1899 and decades later failed as antipsychotic compound (Ban, 2006). Yet, one case report in mid-1950s showing imipramine's antidepressant effect in a female with severe depression has led to further investigation and eventual discovery of the monoaminergic class of antidepressants. Similarly, the first benzodiazepine was lingering on a laboratory shelf for years until it was accidentally discovered during a “spring-cleaning” in 1957 and subsequently demonstrated strong anxiolytic effects (Ban, 2006). Another unanticipated observation in the 1950s was the report that the anti-tuberculosis d-</a:t>
            </a:r>
            <a:r>
              <a:rPr lang="en-US" sz="1050" dirty="0" err="1">
                <a:latin typeface="Arial" panose="020B0604020202020204" pitchFamily="34" charset="0"/>
                <a:cs typeface="Arial" panose="020B0604020202020204" pitchFamily="34" charset="0"/>
              </a:rPr>
              <a:t>cycloserine</a:t>
            </a:r>
            <a:r>
              <a:rPr lang="en-US" sz="1050" dirty="0">
                <a:latin typeface="Arial" panose="020B0604020202020204" pitchFamily="34" charset="0"/>
                <a:cs typeface="Arial" panose="020B0604020202020204" pitchFamily="34" charset="0"/>
              </a:rPr>
              <a:t>, an N-methyl-D-aspartate receptor (NMDAR) modulator, may possess antidepressant properties (Crane, 1959). Yet, this fortuitous observation has gained little to no attention for more than four decades, until it was discovered in the late 1990s that a single subanesthetic dose of the NMDAR antagonist ketamine induces rapid and sustained antidepressant effects in severely depressed patients (Berman et al., 2000). At the time, in the context of accumulating evidence proposing NMDAR modulation as a target for antidepressants, and relating depression to excess glutamate neuro transmission and excitotoxicity, the ketamine findings have generated considerable interest in the field to target glutamate neurotransmission for the development of novel rapid-acting antidepressants (RAADs) (Berman et al., 2000; McEwen, 1999; Skolnick et al., 1996; Zarate et al., 2006). Early attempts have primarily focused on investigating glutamate release inhibitors and NMDAR antagonists, both of which were thought to inhibit glutamate transmission and offset the depression-related excitotoxicity. Unfortunately, the glutamate release inhibition approach has had limited success in human studies over the past 2 decades, with pilot or inconsistent findings of antidepressant properties following sustained treatment and no evidence of RAAD effects (Mathew, Gueorguieva, Brandt, Fava, &amp; </a:t>
            </a:r>
            <a:r>
              <a:rPr lang="en-US" sz="1050" dirty="0" err="1">
                <a:latin typeface="Arial" panose="020B0604020202020204" pitchFamily="34" charset="0"/>
                <a:cs typeface="Arial" panose="020B0604020202020204" pitchFamily="34" charset="0"/>
              </a:rPr>
              <a:t>Sanacora</a:t>
            </a:r>
            <a:r>
              <a:rPr lang="en-US" sz="1050" dirty="0">
                <a:latin typeface="Arial" panose="020B0604020202020204" pitchFamily="34" charset="0"/>
                <a:cs typeface="Arial" panose="020B0604020202020204" pitchFamily="34" charset="0"/>
              </a:rPr>
              <a:t>, 2017; </a:t>
            </a:r>
            <a:r>
              <a:rPr lang="en-US" sz="1050" dirty="0" err="1">
                <a:latin typeface="Arial" panose="020B0604020202020204" pitchFamily="34" charset="0"/>
                <a:cs typeface="Arial" panose="020B0604020202020204" pitchFamily="34" charset="0"/>
              </a:rPr>
              <a:t>Solmi</a:t>
            </a:r>
            <a:r>
              <a:rPr lang="en-US" sz="1050" dirty="0">
                <a:latin typeface="Arial" panose="020B0604020202020204" pitchFamily="34" charset="0"/>
                <a:cs typeface="Arial" panose="020B0604020202020204" pitchFamily="34" charset="0"/>
              </a:rPr>
              <a:t> et al., 2016). Conversely, the NMDAR antagonism approach has shown promise (Abdallah, Averill, &amp; Krystal, 2015; Bobo et al., 2016). Yet, it is becoming increasingly apparent that the NMDAR agents with RAAD properties are putatively exerting their effects through glutamate neurotransmission activation, rather than inhibition (Aleksandrova, Wang, &amp; Phillips, 2017; Murrough, Abdallah, &amp; Mathew, 2017). In this perspective paper, we will (1) review the history of the “glutamate inhibition” and “glutamate activation” hypotheses, (2) propose a synaptic connectivity model of chronic stress pathology, (3) describe the mechanism of action of ketamine, (4) summarize the clinical efficacy findings of putative RAADs, (5) present relevant human biomarker findings, and (6) discuss current challenges and future directions.</a:t>
            </a:r>
          </a:p>
          <a:p>
            <a:pPr marL="0" indent="0">
              <a:lnSpc>
                <a:spcPct val="120000"/>
              </a:lnSpc>
              <a:spcBef>
                <a:spcPts val="0"/>
              </a:spcBef>
              <a:buNone/>
            </a:pPr>
            <a:endParaRPr lang="de-AT"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4025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95599-A2DE-D2B9-8B5A-3563AA4F73E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630F5AF-6D98-592D-9B7E-C2EC4F9E2737}"/>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6F096D8A-78E7-F67C-58F4-56AE3EF4277E}"/>
              </a:ext>
            </a:extLst>
          </p:cNvPr>
          <p:cNvSpPr>
            <a:spLocks noGrp="1"/>
          </p:cNvSpPr>
          <p:nvPr>
            <p:ph idx="1"/>
          </p:nvPr>
        </p:nvSpPr>
        <p:spPr>
          <a:xfrm>
            <a:off x="838200" y="1352939"/>
            <a:ext cx="10515600" cy="4824024"/>
          </a:xfrm>
        </p:spPr>
        <p:txBody>
          <a:bodyPr>
            <a:noAutofit/>
          </a:body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2"/>
              </a:rPr>
              <a:t>https://github.com/EugOT/CN-pr-MDD-snRNA-seq/blob/main/notebooks/load_snRNA-seq-MDD-for-concatenated.ipynb</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endParaRPr lang="en-US" sz="1100" b="1"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Analysis on “Further research questions”</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Abdallah, C. G., </a:t>
            </a:r>
            <a:r>
              <a:rPr lang="en-US" sz="1050" dirty="0" err="1">
                <a:latin typeface="Arial" panose="020B0604020202020204" pitchFamily="34" charset="0"/>
                <a:cs typeface="Arial" panose="020B0604020202020204" pitchFamily="34" charset="0"/>
              </a:rPr>
              <a:t>Sanacora</a:t>
            </a:r>
            <a:r>
              <a:rPr lang="en-US" sz="1050" dirty="0">
                <a:latin typeface="Arial" panose="020B0604020202020204" pitchFamily="34" charset="0"/>
                <a:cs typeface="Arial" panose="020B0604020202020204" pitchFamily="34" charset="0"/>
              </a:rPr>
              <a:t>, G., Duman, R. S., &amp; Krystal, J. H. (2018). The neurobiology of depression, ketamine and rapid-acting antidepressants: Is it glutamate inhibition or activation? Pharmacology &amp; Therapeutics, 190, 148–158. </a:t>
            </a:r>
            <a:r>
              <a:rPr lang="en-US" sz="1050" dirty="0">
                <a:solidFill>
                  <a:srgbClr val="467886"/>
                </a:solidFill>
                <a:latin typeface="Arial" panose="020B0604020202020204" pitchFamily="34" charset="0"/>
                <a:cs typeface="Arial" panose="020B0604020202020204" pitchFamily="34" charset="0"/>
                <a:hlinkClick r:id="rId3"/>
              </a:rPr>
              <a:t>https://doi.org/10.1016/j.pharmthera.2018.05.010</a:t>
            </a:r>
            <a:endParaRPr lang="en-US" sz="1050" dirty="0">
              <a:solidFill>
                <a:srgbClr val="467886"/>
              </a:solidFill>
              <a:latin typeface="Arial" panose="020B0604020202020204" pitchFamily="34" charset="0"/>
              <a:cs typeface="Arial" panose="020B0604020202020204" pitchFamily="34" charset="0"/>
            </a:endParaRP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7. Current challenges &amp; future directions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The ketamine findings have generated considerable excitement about the promise of a truly novel class of robust and effective </a:t>
            </a:r>
            <a:r>
              <a:rPr lang="en-US" sz="1050" dirty="0" err="1">
                <a:latin typeface="Arial" panose="020B0604020202020204" pitchFamily="34" charset="0"/>
                <a:cs typeface="Arial" panose="020B0604020202020204" pitchFamily="34" charset="0"/>
              </a:rPr>
              <a:t>RAADs.This</a:t>
            </a:r>
            <a:r>
              <a:rPr lang="en-US" sz="1050" dirty="0">
                <a:latin typeface="Arial" panose="020B0604020202020204" pitchFamily="34" charset="0"/>
                <a:cs typeface="Arial" panose="020B0604020202020204" pitchFamily="34" charset="0"/>
              </a:rPr>
              <a:t> excitement was translated into a sizable investment from academia, the pharmaceutical industry, and funding agencies. Hundreds of papers over </a:t>
            </a:r>
            <a:r>
              <a:rPr lang="en-US" sz="1050" dirty="0" err="1">
                <a:latin typeface="Arial" panose="020B0604020202020204" pitchFamily="34" charset="0"/>
                <a:cs typeface="Arial" panose="020B0604020202020204" pitchFamily="34" charset="0"/>
              </a:rPr>
              <a:t>thepastdecadehaveinvestigated</a:t>
            </a:r>
            <a:r>
              <a:rPr lang="en-US" sz="1050" dirty="0">
                <a:latin typeface="Arial" panose="020B0604020202020204" pitchFamily="34" charset="0"/>
                <a:cs typeface="Arial" panose="020B0604020202020204" pitchFamily="34" charset="0"/>
              </a:rPr>
              <a:t> </a:t>
            </a:r>
            <a:r>
              <a:rPr lang="en-US" sz="1050" dirty="0" err="1">
                <a:latin typeface="Arial" panose="020B0604020202020204" pitchFamily="34" charset="0"/>
                <a:cs typeface="Arial" panose="020B0604020202020204" pitchFamily="34" charset="0"/>
              </a:rPr>
              <a:t>themechanisms</a:t>
            </a:r>
            <a:r>
              <a:rPr lang="en-US" sz="1050" dirty="0">
                <a:latin typeface="Arial" panose="020B0604020202020204" pitchFamily="34" charset="0"/>
                <a:cs typeface="Arial" panose="020B0604020202020204" pitchFamily="34" charset="0"/>
              </a:rPr>
              <a:t> of ketamine and/or its potential therapeutic utility. However, while preclinical data have extensively investigated ketamine's targets and putative mechanisms, the clinical mechanistic evidence remains lagging.</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In particular, to </a:t>
            </a:r>
            <a:r>
              <a:rPr lang="en-US" sz="1050" dirty="0" err="1">
                <a:latin typeface="Arial" panose="020B0604020202020204" pitchFamily="34" charset="0"/>
                <a:cs typeface="Arial" panose="020B0604020202020204" pitchFamily="34" charset="0"/>
              </a:rPr>
              <a:t>date,we</a:t>
            </a:r>
            <a:r>
              <a:rPr lang="en-US" sz="1050" dirty="0">
                <a:latin typeface="Arial" panose="020B0604020202020204" pitchFamily="34" charset="0"/>
                <a:cs typeface="Arial" panose="020B0604020202020204" pitchFamily="34" charset="0"/>
              </a:rPr>
              <a:t> do not have a well-established reproducible biomarker of target engagement (i.e., transient postsynaptic glutamate activation) or target validation (i.e., sustained synaptic remodeling) for the development of RAADs. This issue may have been less problematic for </a:t>
            </a:r>
            <a:r>
              <a:rPr lang="en-US" sz="1050" dirty="0" err="1">
                <a:latin typeface="Arial" panose="020B0604020202020204" pitchFamily="34" charset="0"/>
                <a:cs typeface="Arial" panose="020B0604020202020204" pitchFamily="34" charset="0"/>
              </a:rPr>
              <a:t>thedevelopmentofmonoaminergicdrugs.Following</a:t>
            </a:r>
            <a:r>
              <a:rPr lang="en-US" sz="1050" dirty="0">
                <a:latin typeface="Arial" panose="020B0604020202020204" pitchFamily="34" charset="0"/>
                <a:cs typeface="Arial" panose="020B0604020202020204" pitchFamily="34" charset="0"/>
              </a:rPr>
              <a:t> the identification of the in vitro pharmacodynamics of tricyclic antidepressants, the field over the next half a century successfully produced several SAADs, which primarily shared the common in vitro detectable pharmacodynamics of serotonin re-uptake inhibition (SRI). In addition, SRI largely has (1) linear dose response, (2) broad therapeutic window,</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and (3) relatively stable in vivo pharmacodynamics across administration regimens. In contrast, the development of RAADs has proven more complex; at least two NMDAR antagonists (memantine &amp; CERC 301) and two ampakines (S47445 &amp; ORG26576) failed in clinical trials </a:t>
            </a:r>
            <a:r>
              <a:rPr lang="en-US" sz="1050" dirty="0" err="1">
                <a:latin typeface="Arial" panose="020B0604020202020204" pitchFamily="34" charset="0"/>
                <a:cs typeface="Arial" panose="020B0604020202020204" pitchFamily="34" charset="0"/>
              </a:rPr>
              <a:t>andothersimilar</a:t>
            </a:r>
            <a:r>
              <a:rPr lang="en-US" sz="1050" dirty="0">
                <a:latin typeface="Arial" panose="020B0604020202020204" pitchFamily="34" charset="0"/>
                <a:cs typeface="Arial" panose="020B0604020202020204" pitchFamily="34" charset="0"/>
              </a:rPr>
              <a:t> </a:t>
            </a:r>
            <a:r>
              <a:rPr lang="en-US" sz="1050" dirty="0" err="1">
                <a:latin typeface="Arial" panose="020B0604020202020204" pitchFamily="34" charset="0"/>
                <a:cs typeface="Arial" panose="020B0604020202020204" pitchFamily="34" charset="0"/>
              </a:rPr>
              <a:t>agentshave</a:t>
            </a:r>
            <a:r>
              <a:rPr lang="en-US" sz="1050" dirty="0">
                <a:latin typeface="Arial" panose="020B0604020202020204" pitchFamily="34" charset="0"/>
                <a:cs typeface="Arial" panose="020B0604020202020204" pitchFamily="34" charset="0"/>
              </a:rPr>
              <a:t> </a:t>
            </a:r>
            <a:r>
              <a:rPr lang="en-US" sz="1050" dirty="0" err="1">
                <a:latin typeface="Arial" panose="020B0604020202020204" pitchFamily="34" charset="0"/>
                <a:cs typeface="Arial" panose="020B0604020202020204" pitchFamily="34" charset="0"/>
              </a:rPr>
              <a:t>shownpromiseonlyinpreclinicalstudies</a:t>
            </a: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or proof of concept trials. Several challenges may have contributed to the complexity of developing RAADs: (1) While it is evident that blocking NMDAR may induce RAAD effects, only focusing on the in vitro </a:t>
            </a:r>
            <a:r>
              <a:rPr lang="en-US" sz="1050" dirty="0" err="1">
                <a:latin typeface="Arial" panose="020B0604020202020204" pitchFamily="34" charset="0"/>
                <a:cs typeface="Arial" panose="020B0604020202020204" pitchFamily="34" charset="0"/>
              </a:rPr>
              <a:t>NMDARantagonismpropertiesappearstohavelowpredictabil</a:t>
            </a:r>
            <a:r>
              <a:rPr lang="en-US" sz="1050" dirty="0">
                <a:latin typeface="Arial" panose="020B0604020202020204" pitchFamily="34" charset="0"/>
                <a:cs typeface="Arial" panose="020B0604020202020204" pitchFamily="34" charset="0"/>
              </a:rPr>
              <a:t> </a:t>
            </a:r>
            <a:r>
              <a:rPr lang="en-US" sz="1050" dirty="0" err="1">
                <a:latin typeface="Arial" panose="020B0604020202020204" pitchFamily="34" charset="0"/>
                <a:cs typeface="Arial" panose="020B0604020202020204" pitchFamily="34" charset="0"/>
              </a:rPr>
              <a:t>ity</a:t>
            </a:r>
            <a:r>
              <a:rPr lang="en-US" sz="1050" dirty="0">
                <a:latin typeface="Arial" panose="020B0604020202020204" pitchFamily="34" charset="0"/>
                <a:cs typeface="Arial" panose="020B0604020202020204" pitchFamily="34" charset="0"/>
              </a:rPr>
              <a:t> for the development of new RAADs. (2) Determining the in vivo</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effects of novel RAAD agents on transient glutamate neurotransmission and sustained synaptic connectivity is critical. However, at this stage, this is only possible in animal studies. The presence of an inverted U-shaped relationship between dose and response further complicates the translatability of preclinical findings. Together, these challenges </a:t>
            </a:r>
            <a:r>
              <a:rPr lang="en-US" sz="1050" dirty="0" err="1">
                <a:latin typeface="Arial" panose="020B0604020202020204" pitchFamily="34" charset="0"/>
                <a:cs typeface="Arial" panose="020B0604020202020204" pitchFamily="34" charset="0"/>
              </a:rPr>
              <a:t>underscoretheneedforrobustandreproduciblebiomarkersofprefrontal</a:t>
            </a:r>
            <a:r>
              <a:rPr lang="en-US" sz="1050" dirty="0">
                <a:latin typeface="Arial" panose="020B0604020202020204" pitchFamily="34" charset="0"/>
                <a:cs typeface="Arial" panose="020B0604020202020204" pitchFamily="34" charset="0"/>
              </a:rPr>
              <a:t> glutamate activation and synaptic connectivity in humans in vivo. The successful development of these biomarkers would be essential to optimize administration regimens of new RAAD compounds prior to testing them in large expensive trials. </a:t>
            </a:r>
          </a:p>
        </p:txBody>
      </p:sp>
    </p:spTree>
    <p:extLst>
      <p:ext uri="{BB962C8B-B14F-4D97-AF65-F5344CB8AC3E}">
        <p14:creationId xmlns:p14="http://schemas.microsoft.com/office/powerpoint/2010/main" val="2891953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D600E-DD6F-2600-980E-23F9F971915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8945AF8-5EAE-A79F-FBEF-0D2A6723DD42}"/>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9BF7DF37-4F75-DE8A-DE1B-921E02E23CF6}"/>
              </a:ext>
            </a:extLst>
          </p:cNvPr>
          <p:cNvSpPr>
            <a:spLocks noGrp="1"/>
          </p:cNvSpPr>
          <p:nvPr>
            <p:ph idx="1"/>
          </p:nvPr>
        </p:nvSpPr>
        <p:spPr>
          <a:xfrm>
            <a:off x="838200" y="1352939"/>
            <a:ext cx="10515600" cy="4824024"/>
          </a:xfrm>
        </p:spPr>
        <p:txBody>
          <a:bodyPr>
            <a:noAutofit/>
          </a:body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2"/>
              </a:rPr>
              <a:t>https://github.com/EugOT/CN-pr-MDD-snRNA-seq/blob/main/notebooks/load_snRNA-seq-MDD-for-concatenated.ipynb</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endParaRPr lang="en-US" sz="1100" b="1"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Analysis on “Further research questions”</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Abdallah, C. G., </a:t>
            </a:r>
            <a:r>
              <a:rPr lang="en-US" sz="1050" dirty="0" err="1">
                <a:latin typeface="Arial" panose="020B0604020202020204" pitchFamily="34" charset="0"/>
                <a:cs typeface="Arial" panose="020B0604020202020204" pitchFamily="34" charset="0"/>
              </a:rPr>
              <a:t>Sanacora</a:t>
            </a:r>
            <a:r>
              <a:rPr lang="en-US" sz="1050" dirty="0">
                <a:latin typeface="Arial" panose="020B0604020202020204" pitchFamily="34" charset="0"/>
                <a:cs typeface="Arial" panose="020B0604020202020204" pitchFamily="34" charset="0"/>
              </a:rPr>
              <a:t>, G., Duman, R. S., &amp; Krystal, J. H. (2018). The neurobiology of depression, ketamine and rapid-acting antidepressants: Is it glutamate inhibition or activation? Pharmacology &amp; Therapeutics, 190, 148–158. </a:t>
            </a:r>
            <a:r>
              <a:rPr lang="en-US" sz="1050" dirty="0">
                <a:solidFill>
                  <a:srgbClr val="467886"/>
                </a:solidFill>
                <a:latin typeface="Arial" panose="020B0604020202020204" pitchFamily="34" charset="0"/>
                <a:cs typeface="Arial" panose="020B0604020202020204" pitchFamily="34" charset="0"/>
                <a:hlinkClick r:id="rId3"/>
              </a:rPr>
              <a:t>https://doi.org/10.1016/j.pharmthera.2018.05.010</a:t>
            </a:r>
            <a:endParaRPr lang="en-US" sz="1050" dirty="0">
              <a:solidFill>
                <a:srgbClr val="467886"/>
              </a:solidFill>
              <a:latin typeface="Arial" panose="020B0604020202020204" pitchFamily="34" charset="0"/>
              <a:cs typeface="Arial" panose="020B0604020202020204" pitchFamily="34" charset="0"/>
            </a:endParaRP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dirty="0">
                <a:latin typeface="Arial" panose="020B0604020202020204" pitchFamily="34" charset="0"/>
                <a:cs typeface="Arial" panose="020B0604020202020204" pitchFamily="34" charset="0"/>
              </a:rPr>
              <a:t>Capitalizing on the extensive preclinical and clinical ketamine data, and the swiftness and robustness of its synaptic remodeling and behavioral (psychotomimetic and antidepressant) effects, future studies have a unique opportunity to use ketamine as a tool to establish these synaptic biomarkers that are not only relevant to depression, but also to normal brain function and most neuropsychiatric disorders. Another opportunity for future studies is that both the chronic stress related synaptic hypoconnectivity and the ketamine induced</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synaptic hyperconnectivity are reversible within 2 weeks of the intervention, raising mechanistic questions about this individual </a:t>
            </a:r>
            <a:r>
              <a:rPr lang="en-US" sz="1050" dirty="0" err="1">
                <a:latin typeface="Arial" panose="020B0604020202020204" pitchFamily="34" charset="0"/>
                <a:cs typeface="Arial" panose="020B0604020202020204" pitchFamily="34" charset="0"/>
              </a:rPr>
              <a:t>ized</a:t>
            </a:r>
            <a:r>
              <a:rPr lang="en-US" sz="1050" dirty="0">
                <a:latin typeface="Arial" panose="020B0604020202020204" pitchFamily="34" charset="0"/>
                <a:cs typeface="Arial" panose="020B0604020202020204" pitchFamily="34" charset="0"/>
              </a:rPr>
              <a:t> homeostatic stable equilibrium of overall synaptic strength. Future studies can capitalize on this notable reversibility to determine the mechanisms underlying this putative homeostatic stable equilibrium of synaptic strength within the context of chronic stress and ketamine treatment. Successful unraveling of these mechanisms may provide information that goes beyond the progress and treatment of depression, and begins to examine the etiology and perhaps cure of depression. In summary, elegant ketamine studies over the past decade have significantly improved our understanding of the pathophysiology of chronic stress and depression, while unraveling several mechanisms through which transient prefrontal glutamate activation produces rapid restoration of synaptic connectivity along with RAAD effects. Although there is evidence associating glutamate inhibition with antidepressant properties, these data have been primarily limited to SAAD effects. So, is it glutamate inhibition or activation? Within the PFC, chronic stress and depression seem to be associated with high </a:t>
            </a:r>
            <a:r>
              <a:rPr lang="en-US" sz="1050" dirty="0" err="1">
                <a:latin typeface="Arial" panose="020B0604020202020204" pitchFamily="34" charset="0"/>
                <a:cs typeface="Arial" panose="020B0604020202020204" pitchFamily="34" charset="0"/>
              </a:rPr>
              <a:t>extrasynaptic</a:t>
            </a:r>
            <a:r>
              <a:rPr lang="en-US" sz="1050" dirty="0">
                <a:latin typeface="Arial" panose="020B0604020202020204" pitchFamily="34" charset="0"/>
                <a:cs typeface="Arial" panose="020B0604020202020204" pitchFamily="34" charset="0"/>
              </a:rPr>
              <a:t> glutamate level, but overall reduced glutamate neurotransmission as evident by reduction in synaptic connectivity, glutamate cycling, and </a:t>
            </a:r>
            <a:r>
              <a:rPr lang="en-US" sz="1050" dirty="0" err="1">
                <a:latin typeface="Arial" panose="020B0604020202020204" pitchFamily="34" charset="0"/>
                <a:cs typeface="Arial" panose="020B0604020202020204" pitchFamily="34" charset="0"/>
              </a:rPr>
              <a:t>neuroenergetics</a:t>
            </a:r>
            <a:r>
              <a:rPr lang="en-US" sz="1050" dirty="0">
                <a:latin typeface="Arial" panose="020B0604020202020204" pitchFamily="34" charset="0"/>
                <a:cs typeface="Arial" panose="020B0604020202020204" pitchFamily="34" charset="0"/>
              </a:rPr>
              <a:t>. As for the neurobiology of ketamine and other RAADs, it is increasingly evident that transient PFC glutamate postsynaptic activation is a primary underlying mechanism. Yet, it remains to be seen in future studies whether selective inhibition of </a:t>
            </a:r>
            <a:r>
              <a:rPr lang="en-US" sz="1050" dirty="0" err="1">
                <a:latin typeface="Arial" panose="020B0604020202020204" pitchFamily="34" charset="0"/>
                <a:cs typeface="Arial" panose="020B0604020202020204" pitchFamily="34" charset="0"/>
              </a:rPr>
              <a:t>extrasynaptic</a:t>
            </a:r>
            <a:r>
              <a:rPr lang="en-US" sz="1050" dirty="0">
                <a:latin typeface="Arial" panose="020B0604020202020204" pitchFamily="34" charset="0"/>
                <a:cs typeface="Arial" panose="020B0604020202020204" pitchFamily="34" charset="0"/>
              </a:rPr>
              <a:t> NMDARs would be sufficient to induce sustained synaptic remodeling and robust RAAD effects.</a:t>
            </a:r>
          </a:p>
        </p:txBody>
      </p:sp>
    </p:spTree>
    <p:extLst>
      <p:ext uri="{BB962C8B-B14F-4D97-AF65-F5344CB8AC3E}">
        <p14:creationId xmlns:p14="http://schemas.microsoft.com/office/powerpoint/2010/main" val="3705489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AB8A-BFC0-E2AE-E9E4-4D4355F51815}"/>
            </a:ext>
          </a:extLst>
        </p:cNvPr>
        <p:cNvGrpSpPr/>
        <p:nvPr/>
      </p:nvGrpSpPr>
      <p:grpSpPr>
        <a:xfrm>
          <a:off x="0" y="0"/>
          <a:ext cx="0" cy="0"/>
          <a:chOff x="0" y="0"/>
          <a:chExt cx="0" cy="0"/>
        </a:xfrm>
      </p:grpSpPr>
      <p:graphicFrame>
        <p:nvGraphicFramePr>
          <p:cNvPr id="5" name="Objekt 4">
            <a:extLst>
              <a:ext uri="{FF2B5EF4-FFF2-40B4-BE49-F238E27FC236}">
                <a16:creationId xmlns:a16="http://schemas.microsoft.com/office/drawing/2014/main" id="{C6297029-09E0-0442-6AAB-C841C49A32A1}"/>
              </a:ext>
            </a:extLst>
          </p:cNvPr>
          <p:cNvGraphicFramePr>
            <a:graphicFrameLocks noChangeAspect="1"/>
          </p:cNvGraphicFramePr>
          <p:nvPr>
            <p:extLst>
              <p:ext uri="{D42A27DB-BD31-4B8C-83A1-F6EECF244321}">
                <p14:modId xmlns:p14="http://schemas.microsoft.com/office/powerpoint/2010/main" val="2138892577"/>
              </p:ext>
            </p:extLst>
          </p:nvPr>
        </p:nvGraphicFramePr>
        <p:xfrm>
          <a:off x="2379305" y="1609513"/>
          <a:ext cx="9638069" cy="4718261"/>
        </p:xfrm>
        <a:graphic>
          <a:graphicData uri="http://schemas.openxmlformats.org/presentationml/2006/ole">
            <mc:AlternateContent xmlns:mc="http://schemas.openxmlformats.org/markup-compatibility/2006">
              <mc:Choice xmlns:v="urn:schemas-microsoft-com:vml" Requires="v">
                <p:oleObj name="Worksheet" r:id="rId2" imgW="14203822" imgH="6949440" progId="Excel.Sheet.12">
                  <p:embed/>
                </p:oleObj>
              </mc:Choice>
              <mc:Fallback>
                <p:oleObj name="Worksheet" r:id="rId2" imgW="14203822" imgH="6949440" progId="Excel.Sheet.12">
                  <p:embed/>
                  <p:pic>
                    <p:nvPicPr>
                      <p:cNvPr id="5" name="Objekt 4">
                        <a:extLst>
                          <a:ext uri="{FF2B5EF4-FFF2-40B4-BE49-F238E27FC236}">
                            <a16:creationId xmlns:a16="http://schemas.microsoft.com/office/drawing/2014/main" id="{C6297029-09E0-0442-6AAB-C841C49A32A1}"/>
                          </a:ext>
                        </a:extLst>
                      </p:cNvPr>
                      <p:cNvPicPr/>
                      <p:nvPr/>
                    </p:nvPicPr>
                    <p:blipFill>
                      <a:blip r:embed="rId3"/>
                      <a:stretch>
                        <a:fillRect/>
                      </a:stretch>
                    </p:blipFill>
                    <p:spPr>
                      <a:xfrm>
                        <a:off x="2379305" y="1609513"/>
                        <a:ext cx="9638069" cy="4718261"/>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B4B188C7-24F2-A7EF-F5E9-7773E6B64FFB}"/>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F0D564AB-B593-3D89-AAA9-092C43E9D961}"/>
              </a:ext>
            </a:extLst>
          </p:cNvPr>
          <p:cNvSpPr>
            <a:spLocks noGrp="1"/>
          </p:cNvSpPr>
          <p:nvPr>
            <p:ph idx="1"/>
          </p:nvPr>
        </p:nvSpPr>
        <p:spPr>
          <a:xfrm>
            <a:off x="174626" y="1609513"/>
            <a:ext cx="2204679"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Analysis on “Further research questions”</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sz="10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Literature Research </a:t>
            </a:r>
            <a:r>
              <a:rPr kumimoji="0" lang="en-US" sz="105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Motivation</a:t>
            </a:r>
          </a:p>
          <a:p>
            <a:pPr marL="228600" marR="0" lvl="0" indent="-2286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Neuroinflammation selectively impairs PV interneuron function in MDD</a:t>
            </a:r>
          </a:p>
          <a:p>
            <a:pPr marL="228600" marR="0" lvl="0" indent="-2286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IL-6 and TNF-</a:t>
            </a:r>
            <a:r>
              <a:rPr kumimoji="0" lang="el-GR"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α </a:t>
            </a: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reduce PV firing, GABA output, and gamma synchrony</a:t>
            </a:r>
          </a:p>
          <a:p>
            <a:pPr marL="228600" marR="0" lvl="0" indent="-2286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Ketamine exerts anti-inflammatory and circuit-restorative effects</a:t>
            </a:r>
          </a:p>
          <a:p>
            <a:pPr marL="228600" marR="0" lvl="0" indent="-2286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Targeting inflammation may optimize ketamine response and support precision psychiatry</a:t>
            </a:r>
          </a:p>
          <a:p>
            <a:pPr marL="228600" marR="0" lvl="0" indent="-2286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Repeated ketamine can induce lasting functional improvements in PV interneuron activity and network integration in pre-frontal cortex</a:t>
            </a:r>
          </a:p>
          <a:p>
            <a:pPr marL="0" indent="0">
              <a:lnSpc>
                <a:spcPct val="120000"/>
              </a:lnSpc>
              <a:spcBef>
                <a:spcPts val="0"/>
              </a:spcBef>
              <a:buNone/>
            </a:pPr>
            <a:endParaRPr lang="de-AT" sz="105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6073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0D0E7-90C9-17D3-ED06-BAB28E25845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9F81560-C065-9500-FFEE-F0A8EDAEE847}"/>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A5ABE817-4FBE-A767-11AF-7FE9CCE75165}"/>
              </a:ext>
            </a:extLst>
          </p:cNvPr>
          <p:cNvSpPr>
            <a:spLocks noGrp="1"/>
          </p:cNvSpPr>
          <p:nvPr>
            <p:ph idx="1"/>
          </p:nvPr>
        </p:nvSpPr>
        <p:spPr>
          <a:xfrm>
            <a:off x="838199" y="1352939"/>
            <a:ext cx="10759751"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Analysis on “Further research questions”</a:t>
            </a: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Computational modeling of ketamine-induced changes in gamma-band oscillations: The contribution of parvalbumin and somatostatin interneurons </a:t>
            </a:r>
            <a:r>
              <a:rPr lang="en-US" sz="1050" dirty="0">
                <a:latin typeface="Arial" panose="020B0604020202020204" pitchFamily="34" charset="0"/>
                <a:cs typeface="Arial" panose="020B0604020202020204" pitchFamily="34" charset="0"/>
              </a:rPr>
              <a:t>10.1371/journal.pcbi.1013118 </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Jessie Rademacher, Tineke </a:t>
            </a:r>
            <a:r>
              <a:rPr lang="en-US" sz="1050" dirty="0" err="1">
                <a:latin typeface="Arial" panose="020B0604020202020204" pitchFamily="34" charset="0"/>
                <a:cs typeface="Arial" panose="020B0604020202020204" pitchFamily="34" charset="0"/>
              </a:rPr>
              <a:t>Grent</a:t>
            </a:r>
            <a:r>
              <a:rPr lang="en-US" sz="1050" dirty="0">
                <a:latin typeface="Arial" panose="020B0604020202020204" pitchFamily="34" charset="0"/>
                <a:cs typeface="Arial" panose="020B0604020202020204" pitchFamily="34" charset="0"/>
              </a:rPr>
              <a:t>-'t-Jong, Davide Rivolta, Andreas Sauer, Bertram Scheller, Guillermo Gonzalez-Burgos, Christoph Metzner, Peter J. </a:t>
            </a:r>
            <a:r>
              <a:rPr lang="en-US" sz="1050" dirty="0" err="1">
                <a:latin typeface="Arial" panose="020B0604020202020204" pitchFamily="34" charset="0"/>
                <a:cs typeface="Arial" panose="020B0604020202020204" pitchFamily="34" charset="0"/>
              </a:rPr>
              <a:t>Uhlhaas</a:t>
            </a:r>
            <a:r>
              <a:rPr lang="en-US" sz="1050" dirty="0">
                <a:latin typeface="Arial" panose="020B0604020202020204" pitchFamily="34" charset="0"/>
                <a:cs typeface="Arial" panose="020B0604020202020204" pitchFamily="34" charset="0"/>
              </a:rPr>
              <a:t> (Jun 2025)</a:t>
            </a: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Abstract</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Ketamine, an NMDA receptor (NMDA-R) antagonist, produces psychotomimetic effects when administered in sub-anesthetic dosages. While previous research suggests that Ketamine alters the excitation/inhibition (E/I)-balance in cortical microcircuits, the precise neural mechanisms by which Ketamine produces these effects are not well understood. We analyzed resting-state MEG data from n = 12 participants who were administered Ketamine to assess changes in gamma-band (30–90 Hz) power and the slope of the aperiodic power spectrum compared to placebo. In addition, correlations of these effects with gene-expression of GABAergic interneurons and NMDA-Rs subunits were analyzed. Finally, we compared Ketamine-induced spectral changes to the effects of systematically changing NMDA-R levels on pyramidal cells, and parvalbumin-, somatostatin- and vasoactive intestinal peptide-expressing interneurons in a computational model of cortical layer-2/3 to identify crucial sites of Ketamine action. Ketamine resulted in a flatter aperiodic slope and increased gamma-band power across brain regions, with pronounced effects in prefrontal and central areas. These effects were correlated with the spatial distribution of parvalbumin and GluN2D gene expression. Computational modeling revealed that reduced NMDA-R activity in parvalbumin or somatostatin interneurons could reproduce increased gamma-band power by increasing pyramidal neuron firing rate, but did not account for changes in the aperiodic slope. The results suggest that parvalbumin and somatostatin interneurons may underlie increased gamma-band power following Ketamine administration in healthy volunteers, while changes in the aperiodic component could not be recreated. These findings have implications for current models of E/I-balance, as well as for understanding the mechanisms underlying the circuit effects of Ketamine.</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Author summary</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Previous research has shown that sub-anesthetic doses of Ketamine lead to increased excitation which could be mediated via effects on specific inhibitory GABAergic interneurons. In this study, we examined how the NMDA-R antagonist Ketamine influences the balance between excitation and inhibition in magnetoencephalography (MEG)-data and explored the role of different neuron types in mediating this effect. We found that Ketamine increased gamma-band activity and altered the slope of the aperiodic power spectrum in MEG-data. These effects were also linked to the expression of genes involved in regulating excitation and inhibition. Using a computational model, we simulated neural circuit activity following disruptions to specific neuron types and found that reducing two types of GABAergic interneurons (parvalbumin and somatostatin interneurons) produced changes in gamma-band oscillations similar to those observed with Ketamine in humans. These findings highlight the role of specific inhibitory neurons in the effects of Ketamine on neural circuits, offering new insights into how Ketamine alters the balance of excitation and inhibition.</a:t>
            </a: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Data</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https://github.com/jessierademacher/Ketamine_E-I</a:t>
            </a:r>
          </a:p>
        </p:txBody>
      </p:sp>
    </p:spTree>
    <p:extLst>
      <p:ext uri="{BB962C8B-B14F-4D97-AF65-F5344CB8AC3E}">
        <p14:creationId xmlns:p14="http://schemas.microsoft.com/office/powerpoint/2010/main" val="3882193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EB1E-BC29-4995-A3A3-E63835B268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E4D1614-8D8B-A937-8D9A-DD499FB25F0F}"/>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AE704014-132F-B94A-D4E5-78D91489EB06}"/>
              </a:ext>
            </a:extLst>
          </p:cNvPr>
          <p:cNvSpPr>
            <a:spLocks noGrp="1"/>
          </p:cNvSpPr>
          <p:nvPr>
            <p:ph idx="1"/>
          </p:nvPr>
        </p:nvSpPr>
        <p:spPr>
          <a:xfrm>
            <a:off x="838199" y="1352939"/>
            <a:ext cx="10759751"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Analysis on “Further research questions”</a:t>
            </a: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Computational modeling of ketamine-induced changes in gamma-band oscillations: The contribution of parvalbumin and somatostatin interneurons</a:t>
            </a:r>
          </a:p>
          <a:p>
            <a:pPr marL="0" indent="0">
              <a:lnSpc>
                <a:spcPct val="12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050" b="1" dirty="0">
                <a:latin typeface="Arial" panose="020B0604020202020204" pitchFamily="34" charset="0"/>
                <a:cs typeface="Arial" panose="020B0604020202020204" pitchFamily="34" charset="0"/>
              </a:rPr>
              <a:t>Summary and implications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Our study provides novel evidence using computational modeling on the role of NMDA-Rs on different GABAergic interneurons towards dysregulated gamma-band oscillations following the administration of Ketamine. Firstly, our computational simulations recreated previous findings showing that Ketamine is associated with an increased firing in excitatory pyramidal cells. Secondly, we can show that both reduced NMDA-Rs on PV+ and SST+ interneurons may underlie the dysregulation of gamma-band activity in human MEG-activity following sub-anesthetic administration of Ketamine. However, while a Ketamine-induced change in the aperiodic slope was found in human MEG data, our computational modeling results suggest that NMDA-R dysfunction in cortical layer 2/3 interneurons do not account for this effect.</a:t>
            </a:r>
          </a:p>
        </p:txBody>
      </p:sp>
    </p:spTree>
    <p:extLst>
      <p:ext uri="{BB962C8B-B14F-4D97-AF65-F5344CB8AC3E}">
        <p14:creationId xmlns:p14="http://schemas.microsoft.com/office/powerpoint/2010/main" val="776291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90450-8B78-8DCD-F484-E59C4ACBA19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16ECD5C-D2DE-1F9C-8C4E-9207843CFCB8}"/>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4F030568-6623-CCB4-52E1-9B11618B54C2}"/>
              </a:ext>
            </a:extLst>
          </p:cNvPr>
          <p:cNvSpPr>
            <a:spLocks noGrp="1"/>
          </p:cNvSpPr>
          <p:nvPr>
            <p:ph idx="1"/>
          </p:nvPr>
        </p:nvSpPr>
        <p:spPr>
          <a:xfrm>
            <a:off x="838200" y="1352939"/>
            <a:ext cx="10515600"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Computational modeling of ketamine-induced changes in gamma-band oscillations: The contribution of parvalbumin and somatostatin interneurons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Analysis of MEG-data from 12 healthy participants who received sub-anesthetic doses of Ketamine in a single-blind, randomized, placebo-controlled design. Resting-state MEG-data (5 minutes, eyes closed) was recorded before and during continuous infusion of Ketamine or Placebo respectively.</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00000"/>
              </a:lnSpc>
              <a:spcBef>
                <a:spcPts val="0"/>
              </a:spcBef>
              <a:buNone/>
            </a:pPr>
            <a:r>
              <a:rPr lang="en-US" sz="1050" b="1" dirty="0">
                <a:latin typeface="Arial" panose="020B0604020202020204" pitchFamily="34" charset="0"/>
                <a:cs typeface="Arial" panose="020B0604020202020204" pitchFamily="34" charset="0"/>
              </a:rPr>
              <a:t>Results</a:t>
            </a:r>
          </a:p>
          <a:p>
            <a:pPr marL="0" indent="0">
              <a:lnSpc>
                <a:spcPct val="10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050" b="1" dirty="0">
                <a:latin typeface="Arial" panose="020B0604020202020204" pitchFamily="34" charset="0"/>
                <a:cs typeface="Arial" panose="020B0604020202020204" pitchFamily="34" charset="0"/>
              </a:rPr>
              <a:t>Gamma-band power</a:t>
            </a:r>
          </a:p>
          <a:p>
            <a:pPr marL="0" indent="0">
              <a:lnSpc>
                <a:spcPct val="100000"/>
              </a:lnSpc>
              <a:spcBef>
                <a:spcPts val="0"/>
              </a:spcBef>
              <a:buNone/>
            </a:pPr>
            <a:r>
              <a:rPr lang="en-US" sz="1050" dirty="0">
                <a:latin typeface="Arial" panose="020B0604020202020204" pitchFamily="34" charset="0"/>
                <a:cs typeface="Arial" panose="020B0604020202020204" pitchFamily="34" charset="0"/>
              </a:rPr>
              <a:t>Gamma-band power (30–90 Hz) computed at sensor level and for virtual channels of 90 AAL (Automated Anatomical Labeling) atlas regions</a:t>
            </a:r>
          </a:p>
          <a:p>
            <a:pPr>
              <a:lnSpc>
                <a:spcPct val="100000"/>
              </a:lnSpc>
              <a:spcBef>
                <a:spcPts val="0"/>
              </a:spcBef>
            </a:pPr>
            <a:r>
              <a:rPr lang="en-US" sz="1050" dirty="0">
                <a:latin typeface="Arial" panose="020B0604020202020204" pitchFamily="34" charset="0"/>
                <a:cs typeface="Arial" panose="020B0604020202020204" pitchFamily="34" charset="0"/>
              </a:rPr>
              <a:t>Ketamine led to increased 30–90 Hz activity in the Ketamine vs. Placebo condition in a broad cluster of sensors, with a maximum effect over central and frontal sensors</a:t>
            </a:r>
          </a:p>
          <a:p>
            <a:pPr>
              <a:lnSpc>
                <a:spcPct val="100000"/>
              </a:lnSpc>
              <a:spcBef>
                <a:spcPts val="0"/>
              </a:spcBef>
            </a:pPr>
            <a:r>
              <a:rPr lang="en-US" sz="1050" dirty="0">
                <a:latin typeface="Arial" panose="020B0604020202020204" pitchFamily="34" charset="0"/>
                <a:cs typeface="Arial" panose="020B0604020202020204" pitchFamily="34" charset="0"/>
              </a:rPr>
              <a:t>Increased gamma-band power was localized across 79 cortical and subcortical regions</a:t>
            </a:r>
          </a:p>
          <a:p>
            <a:pPr>
              <a:lnSpc>
                <a:spcPct val="100000"/>
              </a:lnSpc>
              <a:spcBef>
                <a:spcPts val="0"/>
              </a:spcBef>
            </a:pPr>
            <a:r>
              <a:rPr lang="en-US" sz="1050" dirty="0">
                <a:latin typeface="Arial" panose="020B0604020202020204" pitchFamily="34" charset="0"/>
                <a:cs typeface="Arial" panose="020B0604020202020204" pitchFamily="34" charset="0"/>
              </a:rPr>
              <a:t>The effects were highly consistent across participants. A similar power increase could be observed in the periodic gamma-band (i.e., after subtraction of aperiodic activity)</a:t>
            </a:r>
            <a:endParaRPr lang="en-US" sz="105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050" b="1" dirty="0">
                <a:latin typeface="Arial" panose="020B0604020202020204" pitchFamily="34" charset="0"/>
                <a:cs typeface="Arial" panose="020B0604020202020204" pitchFamily="34" charset="0"/>
              </a:rPr>
              <a:t>Theta, alpha, and beta power</a:t>
            </a:r>
          </a:p>
          <a:p>
            <a:pPr marL="0" indent="0">
              <a:lnSpc>
                <a:spcPct val="100000"/>
              </a:lnSpc>
              <a:spcBef>
                <a:spcPts val="0"/>
              </a:spcBef>
              <a:buNone/>
            </a:pPr>
            <a:r>
              <a:rPr lang="en-US" sz="1050" dirty="0">
                <a:latin typeface="Arial" panose="020B0604020202020204" pitchFamily="34" charset="0"/>
                <a:cs typeface="Arial" panose="020B0604020202020204" pitchFamily="34" charset="0"/>
              </a:rPr>
              <a:t>Analysis of Ketamine-induced power changes theta (4–8 Hz), alpha (8–12 Hz), and beta (13–30 Hz) frequency ranges in non-separated and periodic power spectrum. </a:t>
            </a:r>
          </a:p>
          <a:p>
            <a:pPr>
              <a:lnSpc>
                <a:spcPct val="100000"/>
              </a:lnSpc>
              <a:spcBef>
                <a:spcPts val="0"/>
              </a:spcBef>
            </a:pPr>
            <a:r>
              <a:rPr lang="en-US" sz="1050" dirty="0">
                <a:latin typeface="Arial" panose="020B0604020202020204" pitchFamily="34" charset="0"/>
                <a:cs typeface="Arial" panose="020B0604020202020204" pitchFamily="34" charset="0"/>
              </a:rPr>
              <a:t>Significant Ketamine-induced decreases in the beta range across several frontal and central brain regions in the periodic and the non-separated data, no significant changes in theta and alpha power</a:t>
            </a:r>
            <a:endParaRPr lang="en-US" dirty="0">
              <a:latin typeface="Arial" panose="020B0604020202020204" pitchFamily="34" charset="0"/>
              <a:cs typeface="Arial" panose="020B0604020202020204" pitchFamily="34" charset="0"/>
            </a:endParaRPr>
          </a:p>
          <a:p>
            <a:pPr marL="0" indent="0">
              <a:lnSpc>
                <a:spcPct val="100000"/>
              </a:lnSpc>
              <a:spcBef>
                <a:spcPts val="0"/>
              </a:spcBef>
              <a:buNone/>
            </a:pPr>
            <a:r>
              <a:rPr lang="en-US" sz="1050" b="1" dirty="0">
                <a:latin typeface="Arial" panose="020B0604020202020204" pitchFamily="34" charset="0"/>
                <a:cs typeface="Arial" panose="020B0604020202020204" pitchFamily="34" charset="0"/>
              </a:rPr>
              <a:t>Aperiodic slope</a:t>
            </a:r>
          </a:p>
          <a:p>
            <a:pPr marL="0" indent="0">
              <a:lnSpc>
                <a:spcPct val="100000"/>
              </a:lnSpc>
              <a:spcBef>
                <a:spcPts val="0"/>
              </a:spcBef>
              <a:buNone/>
            </a:pPr>
            <a:r>
              <a:rPr lang="en-US" sz="1050" dirty="0">
                <a:latin typeface="Arial" panose="020B0604020202020204" pitchFamily="34" charset="0"/>
                <a:cs typeface="Arial" panose="020B0604020202020204" pitchFamily="34" charset="0"/>
              </a:rPr>
              <a:t>slope calculation of the aperiodic power spectrum between 7 and 80 Hz.</a:t>
            </a:r>
          </a:p>
          <a:p>
            <a:pPr>
              <a:lnSpc>
                <a:spcPct val="100000"/>
              </a:lnSpc>
              <a:spcBef>
                <a:spcPts val="0"/>
              </a:spcBef>
            </a:pPr>
            <a:r>
              <a:rPr lang="en-US" sz="1050" dirty="0">
                <a:latin typeface="Arial" panose="020B0604020202020204" pitchFamily="34" charset="0"/>
                <a:cs typeface="Arial" panose="020B0604020202020204" pitchFamily="34" charset="0"/>
              </a:rPr>
              <a:t>aperiodic component flatter in the Ketamine condition compared to Placebo at sensor-level and across a wide range of brain regions, except for occipital cortex</a:t>
            </a:r>
          </a:p>
          <a:p>
            <a:pPr>
              <a:lnSpc>
                <a:spcPct val="100000"/>
              </a:lnSpc>
              <a:spcBef>
                <a:spcPts val="0"/>
              </a:spcBef>
            </a:pPr>
            <a:r>
              <a:rPr lang="en-US" sz="1050" dirty="0">
                <a:latin typeface="Arial" panose="020B0604020202020204" pitchFamily="34" charset="0"/>
                <a:cs typeface="Arial" panose="020B0604020202020204" pitchFamily="34" charset="0"/>
              </a:rPr>
              <a:t>slope of the lower-frequencies data did not differ between Ketamine compared to Placebo in any brain region</a:t>
            </a:r>
          </a:p>
          <a:p>
            <a:pPr>
              <a:lnSpc>
                <a:spcPct val="100000"/>
              </a:lnSpc>
              <a:spcBef>
                <a:spcPts val="0"/>
              </a:spcBef>
            </a:pPr>
            <a:r>
              <a:rPr lang="en-US" sz="1050" dirty="0">
                <a:latin typeface="Arial" panose="020B0604020202020204" pitchFamily="34" charset="0"/>
                <a:cs typeface="Arial" panose="020B0604020202020204" pitchFamily="34" charset="0"/>
              </a:rPr>
              <a:t>slope for higher-frequencies affected by Ketamine in several pre-frontal and central brain regions</a:t>
            </a:r>
            <a:endParaRPr lang="de-AT" sz="1050" b="1" dirty="0">
              <a:latin typeface="Arial" panose="020B0604020202020204" pitchFamily="34" charset="0"/>
              <a:cs typeface="Arial" panose="020B0604020202020204" pitchFamily="34" charset="0"/>
            </a:endParaRPr>
          </a:p>
          <a:p>
            <a:pPr marL="0" indent="0">
              <a:lnSpc>
                <a:spcPct val="100000"/>
              </a:lnSpc>
              <a:spcBef>
                <a:spcPts val="0"/>
              </a:spcBef>
              <a:buNone/>
            </a:pPr>
            <a:r>
              <a:rPr lang="de-AT" sz="1050" b="1" dirty="0" err="1">
                <a:latin typeface="Arial" panose="020B0604020202020204" pitchFamily="34" charset="0"/>
                <a:cs typeface="Arial" panose="020B0604020202020204" pitchFamily="34" charset="0"/>
              </a:rPr>
              <a:t>Correlation</a:t>
            </a:r>
            <a:r>
              <a:rPr lang="de-AT" sz="1050" b="1" dirty="0">
                <a:latin typeface="Arial" panose="020B0604020202020204" pitchFamily="34" charset="0"/>
                <a:cs typeface="Arial" panose="020B0604020202020204" pitchFamily="34" charset="0"/>
              </a:rPr>
              <a:t> with </a:t>
            </a:r>
            <a:r>
              <a:rPr lang="de-AT" sz="1050" b="1" dirty="0" err="1">
                <a:latin typeface="Arial" panose="020B0604020202020204" pitchFamily="34" charset="0"/>
                <a:cs typeface="Arial" panose="020B0604020202020204" pitchFamily="34" charset="0"/>
              </a:rPr>
              <a:t>gene</a:t>
            </a:r>
            <a:r>
              <a:rPr lang="de-AT" sz="1050" b="1" dirty="0">
                <a:latin typeface="Arial" panose="020B0604020202020204" pitchFamily="34" charset="0"/>
                <a:cs typeface="Arial" panose="020B0604020202020204" pitchFamily="34" charset="0"/>
              </a:rPr>
              <a:t> </a:t>
            </a:r>
            <a:r>
              <a:rPr lang="de-AT" sz="1050" b="1" dirty="0" err="1">
                <a:latin typeface="Arial" panose="020B0604020202020204" pitchFamily="34" charset="0"/>
                <a:cs typeface="Arial" panose="020B0604020202020204" pitchFamily="34" charset="0"/>
              </a:rPr>
              <a:t>expression</a:t>
            </a:r>
            <a:r>
              <a:rPr lang="de-AT" sz="1050" b="1" dirty="0">
                <a:latin typeface="Arial" panose="020B0604020202020204" pitchFamily="34" charset="0"/>
                <a:cs typeface="Arial" panose="020B0604020202020204" pitchFamily="34" charset="0"/>
              </a:rPr>
              <a:t> </a:t>
            </a:r>
            <a:r>
              <a:rPr lang="de-AT" sz="1050" b="1" dirty="0" err="1">
                <a:latin typeface="Arial" panose="020B0604020202020204" pitchFamily="34" charset="0"/>
                <a:cs typeface="Arial" panose="020B0604020202020204" pitchFamily="34" charset="0"/>
              </a:rPr>
              <a:t>profiles</a:t>
            </a:r>
            <a:endParaRPr lang="de-AT" sz="1050" b="1" dirty="0">
              <a:latin typeface="Arial" panose="020B0604020202020204" pitchFamily="34" charset="0"/>
              <a:cs typeface="Arial" panose="020B0604020202020204" pitchFamily="34" charset="0"/>
            </a:endParaRPr>
          </a:p>
          <a:p>
            <a:pPr marL="0" indent="0">
              <a:lnSpc>
                <a:spcPct val="100000"/>
              </a:lnSpc>
              <a:spcBef>
                <a:spcPts val="0"/>
              </a:spcBef>
              <a:buNone/>
            </a:pPr>
            <a:r>
              <a:rPr lang="de-AT" sz="1050" dirty="0" err="1">
                <a:latin typeface="Arial" panose="020B0604020202020204" pitchFamily="34" charset="0"/>
                <a:cs typeface="Arial" panose="020B0604020202020204" pitchFamily="34" charset="0"/>
              </a:rPr>
              <a:t>Calculation</a:t>
            </a:r>
            <a:r>
              <a:rPr lang="de-AT" sz="1050" dirty="0">
                <a:latin typeface="Arial" panose="020B0604020202020204" pitchFamily="34" charset="0"/>
                <a:cs typeface="Arial" panose="020B0604020202020204" pitchFamily="34" charset="0"/>
              </a:rPr>
              <a:t> of </a:t>
            </a:r>
            <a:r>
              <a:rPr lang="de-AT" sz="1050" dirty="0" err="1">
                <a:latin typeface="Arial" panose="020B0604020202020204" pitchFamily="34" charset="0"/>
                <a:cs typeface="Arial" panose="020B0604020202020204" pitchFamily="34" charset="0"/>
              </a:rPr>
              <a:t>correlations</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between</a:t>
            </a:r>
            <a:r>
              <a:rPr lang="de-AT" sz="1050" dirty="0">
                <a:latin typeface="Arial" panose="020B0604020202020204" pitchFamily="34" charset="0"/>
                <a:cs typeface="Arial" panose="020B0604020202020204" pitchFamily="34" charset="0"/>
              </a:rPr>
              <a:t> the </a:t>
            </a:r>
            <a:r>
              <a:rPr lang="de-AT" sz="1050" dirty="0" err="1">
                <a:latin typeface="Arial" panose="020B0604020202020204" pitchFamily="34" charset="0"/>
                <a:cs typeface="Arial" panose="020B0604020202020204" pitchFamily="34" charset="0"/>
              </a:rPr>
              <a:t>topography</a:t>
            </a:r>
            <a:r>
              <a:rPr lang="de-AT" sz="1050" dirty="0">
                <a:latin typeface="Arial" panose="020B0604020202020204" pitchFamily="34" charset="0"/>
                <a:cs typeface="Arial" panose="020B0604020202020204" pitchFamily="34" charset="0"/>
              </a:rPr>
              <a:t> of Ketamine-</a:t>
            </a:r>
            <a:r>
              <a:rPr lang="de-AT" sz="1050" dirty="0" err="1">
                <a:latin typeface="Arial" panose="020B0604020202020204" pitchFamily="34" charset="0"/>
                <a:cs typeface="Arial" panose="020B0604020202020204" pitchFamily="34" charset="0"/>
              </a:rPr>
              <a:t>induced</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effects</a:t>
            </a:r>
            <a:r>
              <a:rPr lang="de-AT" sz="1050" dirty="0">
                <a:latin typeface="Arial" panose="020B0604020202020204" pitchFamily="34" charset="0"/>
                <a:cs typeface="Arial" panose="020B0604020202020204" pitchFamily="34" charset="0"/>
              </a:rPr>
              <a:t> and the regional </a:t>
            </a:r>
            <a:r>
              <a:rPr lang="de-AT" sz="1050" dirty="0" err="1">
                <a:latin typeface="Arial" panose="020B0604020202020204" pitchFamily="34" charset="0"/>
                <a:cs typeface="Arial" panose="020B0604020202020204" pitchFamily="34" charset="0"/>
              </a:rPr>
              <a:t>gene</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expressions</a:t>
            </a:r>
            <a:r>
              <a:rPr lang="de-AT" sz="1050" dirty="0">
                <a:latin typeface="Arial" panose="020B0604020202020204" pitchFamily="34" charset="0"/>
                <a:cs typeface="Arial" panose="020B0604020202020204" pitchFamily="34" charset="0"/>
              </a:rPr>
              <a:t> of genes </a:t>
            </a:r>
            <a:r>
              <a:rPr lang="de-AT" sz="1050" dirty="0" err="1">
                <a:latin typeface="Arial" panose="020B0604020202020204" pitchFamily="34" charset="0"/>
                <a:cs typeface="Arial" panose="020B0604020202020204" pitchFamily="34" charset="0"/>
              </a:rPr>
              <a:t>encoding</a:t>
            </a:r>
            <a:r>
              <a:rPr lang="de-AT" sz="1050" dirty="0">
                <a:latin typeface="Arial" panose="020B0604020202020204" pitchFamily="34" charset="0"/>
                <a:cs typeface="Arial" panose="020B0604020202020204" pitchFamily="34" charset="0"/>
              </a:rPr>
              <a:t> the PV, SST, and VIP </a:t>
            </a:r>
            <a:r>
              <a:rPr lang="de-AT" sz="1050" dirty="0" err="1">
                <a:latin typeface="Arial" panose="020B0604020202020204" pitchFamily="34" charset="0"/>
                <a:cs typeface="Arial" panose="020B0604020202020204" pitchFamily="34" charset="0"/>
              </a:rPr>
              <a:t>proteins</a:t>
            </a:r>
            <a:r>
              <a:rPr lang="de-AT" sz="1050" dirty="0">
                <a:latin typeface="Arial" panose="020B0604020202020204" pitchFamily="34" charset="0"/>
                <a:cs typeface="Arial" panose="020B0604020202020204" pitchFamily="34" charset="0"/>
              </a:rPr>
              <a:t> (i.e., genes </a:t>
            </a:r>
            <a:r>
              <a:rPr lang="de-AT" sz="1050" i="1" dirty="0">
                <a:latin typeface="Arial" panose="020B0604020202020204" pitchFamily="34" charset="0"/>
                <a:cs typeface="Arial" panose="020B0604020202020204" pitchFamily="34" charset="0"/>
              </a:rPr>
              <a:t>PVALB</a:t>
            </a:r>
            <a:r>
              <a:rPr lang="de-AT" sz="1050" dirty="0">
                <a:latin typeface="Arial" panose="020B0604020202020204" pitchFamily="34" charset="0"/>
                <a:cs typeface="Arial" panose="020B0604020202020204" pitchFamily="34" charset="0"/>
              </a:rPr>
              <a:t>, </a:t>
            </a:r>
            <a:r>
              <a:rPr lang="de-AT" sz="1050" i="1" dirty="0">
                <a:latin typeface="Arial" panose="020B0604020202020204" pitchFamily="34" charset="0"/>
                <a:cs typeface="Arial" panose="020B0604020202020204" pitchFamily="34" charset="0"/>
              </a:rPr>
              <a:t>SST</a:t>
            </a:r>
            <a:r>
              <a:rPr lang="de-AT" sz="1050" dirty="0">
                <a:latin typeface="Arial" panose="020B0604020202020204" pitchFamily="34" charset="0"/>
                <a:cs typeface="Arial" panose="020B0604020202020204" pitchFamily="34" charset="0"/>
              </a:rPr>
              <a:t>, </a:t>
            </a:r>
            <a:r>
              <a:rPr lang="de-AT" sz="1050" i="1" dirty="0">
                <a:latin typeface="Arial" panose="020B0604020202020204" pitchFamily="34" charset="0"/>
                <a:cs typeface="Arial" panose="020B0604020202020204" pitchFamily="34" charset="0"/>
              </a:rPr>
              <a:t>VIP</a:t>
            </a:r>
            <a:r>
              <a:rPr lang="de-AT" sz="1050" dirty="0">
                <a:latin typeface="Arial" panose="020B0604020202020204" pitchFamily="34" charset="0"/>
                <a:cs typeface="Arial" panose="020B0604020202020204" pitchFamily="34" charset="0"/>
              </a:rPr>
              <a:t>) as well as genes </a:t>
            </a:r>
            <a:r>
              <a:rPr lang="de-AT" sz="1050" dirty="0" err="1">
                <a:latin typeface="Arial" panose="020B0604020202020204" pitchFamily="34" charset="0"/>
                <a:cs typeface="Arial" panose="020B0604020202020204" pitchFamily="34" charset="0"/>
              </a:rPr>
              <a:t>encoding</a:t>
            </a:r>
            <a:r>
              <a:rPr lang="de-AT" sz="1050" dirty="0">
                <a:latin typeface="Arial" panose="020B0604020202020204" pitchFamily="34" charset="0"/>
                <a:cs typeface="Arial" panose="020B0604020202020204" pitchFamily="34" charset="0"/>
              </a:rPr>
              <a:t> NMDA-R GluN2A-D </a:t>
            </a:r>
            <a:r>
              <a:rPr lang="de-AT" sz="1050" dirty="0" err="1">
                <a:latin typeface="Arial" panose="020B0604020202020204" pitchFamily="34" charset="0"/>
                <a:cs typeface="Arial" panose="020B0604020202020204" pitchFamily="34" charset="0"/>
              </a:rPr>
              <a:t>subunits</a:t>
            </a:r>
            <a:r>
              <a:rPr lang="de-AT" sz="1050" dirty="0">
                <a:latin typeface="Arial" panose="020B0604020202020204" pitchFamily="34" charset="0"/>
                <a:cs typeface="Arial" panose="020B0604020202020204" pitchFamily="34" charset="0"/>
              </a:rPr>
              <a:t> (i.e., </a:t>
            </a:r>
            <a:r>
              <a:rPr lang="de-AT" sz="1050" i="1" dirty="0">
                <a:latin typeface="Arial" panose="020B0604020202020204" pitchFamily="34" charset="0"/>
                <a:cs typeface="Arial" panose="020B0604020202020204" pitchFamily="34" charset="0"/>
              </a:rPr>
              <a:t>GRIN2A, GRIN2B, GRIN2C</a:t>
            </a:r>
            <a:r>
              <a:rPr lang="de-AT" sz="1050" dirty="0">
                <a:latin typeface="Arial" panose="020B0604020202020204" pitchFamily="34" charset="0"/>
                <a:cs typeface="Arial" panose="020B0604020202020204" pitchFamily="34" charset="0"/>
              </a:rPr>
              <a:t>, </a:t>
            </a:r>
            <a:r>
              <a:rPr lang="de-AT" sz="1050" i="1" dirty="0">
                <a:latin typeface="Arial" panose="020B0604020202020204" pitchFamily="34" charset="0"/>
                <a:cs typeface="Arial" panose="020B0604020202020204" pitchFamily="34" charset="0"/>
              </a:rPr>
              <a:t>GRIN2D)</a:t>
            </a:r>
            <a:r>
              <a:rPr lang="de-AT" sz="1050" dirty="0">
                <a:latin typeface="Arial" panose="020B0604020202020204" pitchFamily="34" charset="0"/>
                <a:cs typeface="Arial" panose="020B0604020202020204" pitchFamily="34" charset="0"/>
              </a:rPr>
              <a:t>.</a:t>
            </a:r>
          </a:p>
          <a:p>
            <a:pPr>
              <a:lnSpc>
                <a:spcPct val="100000"/>
              </a:lnSpc>
              <a:spcBef>
                <a:spcPts val="0"/>
              </a:spcBef>
            </a:pPr>
            <a:r>
              <a:rPr lang="de-AT" sz="1050" i="1" dirty="0">
                <a:latin typeface="Arial" panose="020B0604020202020204" pitchFamily="34" charset="0"/>
                <a:cs typeface="Arial" panose="020B0604020202020204" pitchFamily="34" charset="0"/>
              </a:rPr>
              <a:t>PVALB</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gene</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expression</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levels</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across</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cortical</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areas</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were</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positively</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correlated</a:t>
            </a:r>
            <a:r>
              <a:rPr lang="de-AT" sz="1050" dirty="0">
                <a:latin typeface="Arial" panose="020B0604020202020204" pitchFamily="34" charset="0"/>
                <a:cs typeface="Arial" panose="020B0604020202020204" pitchFamily="34" charset="0"/>
              </a:rPr>
              <a:t> with </a:t>
            </a:r>
            <a:r>
              <a:rPr lang="de-AT" sz="1050" dirty="0" err="1">
                <a:latin typeface="Arial" panose="020B0604020202020204" pitchFamily="34" charset="0"/>
                <a:cs typeface="Arial" panose="020B0604020202020204" pitchFamily="34" charset="0"/>
              </a:rPr>
              <a:t>spatial</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differences</a:t>
            </a:r>
            <a:r>
              <a:rPr lang="de-AT" sz="1050" dirty="0">
                <a:latin typeface="Arial" panose="020B0604020202020204" pitchFamily="34" charset="0"/>
                <a:cs typeface="Arial" panose="020B0604020202020204" pitchFamily="34" charset="0"/>
              </a:rPr>
              <a:t> in Ketamine-</a:t>
            </a:r>
            <a:r>
              <a:rPr lang="de-AT" sz="1050" dirty="0" err="1">
                <a:latin typeface="Arial" panose="020B0604020202020204" pitchFamily="34" charset="0"/>
                <a:cs typeface="Arial" panose="020B0604020202020204" pitchFamily="34" charset="0"/>
              </a:rPr>
              <a:t>induced</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heightened</a:t>
            </a:r>
            <a:r>
              <a:rPr lang="de-AT" sz="1050" dirty="0">
                <a:latin typeface="Arial" panose="020B0604020202020204" pitchFamily="34" charset="0"/>
                <a:cs typeface="Arial" panose="020B0604020202020204" pitchFamily="34" charset="0"/>
              </a:rPr>
              <a:t> gamma-band power. The </a:t>
            </a:r>
            <a:r>
              <a:rPr lang="de-AT" sz="1050" dirty="0" err="1">
                <a:latin typeface="Arial" panose="020B0604020202020204" pitchFamily="34" charset="0"/>
                <a:cs typeface="Arial" panose="020B0604020202020204" pitchFamily="34" charset="0"/>
              </a:rPr>
              <a:t>spatial</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differences</a:t>
            </a:r>
            <a:r>
              <a:rPr lang="de-AT" sz="1050" dirty="0">
                <a:latin typeface="Arial" panose="020B0604020202020204" pitchFamily="34" charset="0"/>
                <a:cs typeface="Arial" panose="020B0604020202020204" pitchFamily="34" charset="0"/>
              </a:rPr>
              <a:t> in </a:t>
            </a:r>
            <a:r>
              <a:rPr lang="de-AT" sz="1050" dirty="0" err="1">
                <a:latin typeface="Arial" panose="020B0604020202020204" pitchFamily="34" charset="0"/>
                <a:cs typeface="Arial" panose="020B0604020202020204" pitchFamily="34" charset="0"/>
              </a:rPr>
              <a:t>expression</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profiles</a:t>
            </a:r>
            <a:r>
              <a:rPr lang="de-AT" sz="1050" dirty="0">
                <a:latin typeface="Arial" panose="020B0604020202020204" pitchFamily="34" charset="0"/>
                <a:cs typeface="Arial" panose="020B0604020202020204" pitchFamily="34" charset="0"/>
              </a:rPr>
              <a:t> of genes </a:t>
            </a:r>
            <a:r>
              <a:rPr lang="de-AT" sz="1050" dirty="0" err="1">
                <a:latin typeface="Arial" panose="020B0604020202020204" pitchFamily="34" charset="0"/>
                <a:cs typeface="Arial" panose="020B0604020202020204" pitchFamily="34" charset="0"/>
              </a:rPr>
              <a:t>encoding</a:t>
            </a:r>
            <a:r>
              <a:rPr lang="de-AT" sz="1050" dirty="0">
                <a:latin typeface="Arial" panose="020B0604020202020204" pitchFamily="34" charset="0"/>
                <a:cs typeface="Arial" panose="020B0604020202020204" pitchFamily="34" charset="0"/>
              </a:rPr>
              <a:t> PV and GluN2D </a:t>
            </a:r>
            <a:r>
              <a:rPr lang="de-AT" sz="1050" dirty="0" err="1">
                <a:latin typeface="Arial" panose="020B0604020202020204" pitchFamily="34" charset="0"/>
                <a:cs typeface="Arial" panose="020B0604020202020204" pitchFamily="34" charset="0"/>
              </a:rPr>
              <a:t>correlated</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significantly</a:t>
            </a:r>
            <a:r>
              <a:rPr lang="de-AT" sz="1050" dirty="0">
                <a:latin typeface="Arial" panose="020B0604020202020204" pitchFamily="34" charset="0"/>
                <a:cs typeface="Arial" panose="020B0604020202020204" pitchFamily="34" charset="0"/>
              </a:rPr>
              <a:t> with the </a:t>
            </a:r>
            <a:r>
              <a:rPr lang="de-AT" sz="1050" dirty="0" err="1">
                <a:latin typeface="Arial" panose="020B0604020202020204" pitchFamily="34" charset="0"/>
                <a:cs typeface="Arial" panose="020B0604020202020204" pitchFamily="34" charset="0"/>
              </a:rPr>
              <a:t>spatial</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differences</a:t>
            </a:r>
            <a:r>
              <a:rPr lang="de-AT" sz="1050" dirty="0">
                <a:latin typeface="Arial" panose="020B0604020202020204" pitchFamily="34" charset="0"/>
                <a:cs typeface="Arial" panose="020B0604020202020204" pitchFamily="34" charset="0"/>
              </a:rPr>
              <a:t> in Ketamine-</a:t>
            </a:r>
            <a:r>
              <a:rPr lang="de-AT" sz="1050" dirty="0" err="1">
                <a:latin typeface="Arial" panose="020B0604020202020204" pitchFamily="34" charset="0"/>
                <a:cs typeface="Arial" panose="020B0604020202020204" pitchFamily="34" charset="0"/>
              </a:rPr>
              <a:t>induced</a:t>
            </a:r>
            <a:r>
              <a:rPr lang="de-AT" sz="1050" dirty="0">
                <a:latin typeface="Arial" panose="020B0604020202020204" pitchFamily="34" charset="0"/>
                <a:cs typeface="Arial" panose="020B0604020202020204" pitchFamily="34" charset="0"/>
              </a:rPr>
              <a:t> negative </a:t>
            </a:r>
            <a:r>
              <a:rPr lang="de-AT" sz="1050" dirty="0" err="1">
                <a:latin typeface="Arial" panose="020B0604020202020204" pitchFamily="34" charset="0"/>
                <a:cs typeface="Arial" panose="020B0604020202020204" pitchFamily="34" charset="0"/>
              </a:rPr>
              <a:t>slope</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change</a:t>
            </a:r>
            <a:r>
              <a:rPr lang="de-AT" sz="1050" dirty="0">
                <a:latin typeface="Arial" panose="020B0604020202020204" pitchFamily="34" charset="0"/>
                <a:cs typeface="Arial" panose="020B0604020202020204" pitchFamily="34" charset="0"/>
              </a:rPr>
              <a:t> (i.e., </a:t>
            </a:r>
            <a:r>
              <a:rPr lang="de-AT" sz="1050" dirty="0" err="1">
                <a:latin typeface="Arial" panose="020B0604020202020204" pitchFamily="34" charset="0"/>
                <a:cs typeface="Arial" panose="020B0604020202020204" pitchFamily="34" charset="0"/>
              </a:rPr>
              <a:t>correlated</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positively</a:t>
            </a:r>
            <a:r>
              <a:rPr lang="de-AT" sz="1050" dirty="0">
                <a:latin typeface="Arial" panose="020B0604020202020204" pitchFamily="34" charset="0"/>
                <a:cs typeface="Arial" panose="020B0604020202020204" pitchFamily="34" charset="0"/>
              </a:rPr>
              <a:t> with a </a:t>
            </a:r>
            <a:r>
              <a:rPr lang="de-AT" sz="1050" dirty="0" err="1">
                <a:latin typeface="Arial" panose="020B0604020202020204" pitchFamily="34" charset="0"/>
                <a:cs typeface="Arial" panose="020B0604020202020204" pitchFamily="34" charset="0"/>
              </a:rPr>
              <a:t>flatter</a:t>
            </a:r>
            <a:r>
              <a:rPr lang="de-AT" sz="1050" dirty="0">
                <a:latin typeface="Arial" panose="020B0604020202020204" pitchFamily="34" charset="0"/>
                <a:cs typeface="Arial" panose="020B0604020202020204" pitchFamily="34" charset="0"/>
              </a:rPr>
              <a:t> </a:t>
            </a:r>
            <a:r>
              <a:rPr lang="de-AT" sz="1050" dirty="0" err="1">
                <a:latin typeface="Arial" panose="020B0604020202020204" pitchFamily="34" charset="0"/>
                <a:cs typeface="Arial" panose="020B0604020202020204" pitchFamily="34" charset="0"/>
              </a:rPr>
              <a:t>slope</a:t>
            </a:r>
            <a:r>
              <a:rPr lang="de-AT" sz="105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91672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3C9F5-168A-BAA2-0FEF-95F4D7FC818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4AEC76F-EA00-2683-F197-BA5DA2BDDAF8}"/>
              </a:ext>
            </a:extLst>
          </p:cNvPr>
          <p:cNvSpPr>
            <a:spLocks noGrp="1"/>
          </p:cNvSpPr>
          <p:nvPr>
            <p:ph type="title"/>
          </p:nvPr>
        </p:nvSpPr>
        <p:spPr>
          <a:xfrm>
            <a:off x="838200" y="365125"/>
            <a:ext cx="10515600" cy="922499"/>
          </a:xfrm>
        </p:spPr>
        <p:txBody>
          <a:bodyPr>
            <a:normAutofit/>
          </a:bodyPr>
          <a:lstStyle/>
          <a:p>
            <a:r>
              <a:rPr lang="de-AT" sz="2400" dirty="0">
                <a:latin typeface="Arial" panose="020B0604020202020204" pitchFamily="34" charset="0"/>
                <a:cs typeface="Arial" panose="020B0604020202020204" pitchFamily="34" charset="0"/>
              </a:rPr>
              <a:t>GROUP TOPIC </a:t>
            </a:r>
            <a:r>
              <a:rPr lang="en-US" sz="2400" dirty="0">
                <a:latin typeface="Arial" panose="020B0604020202020204" pitchFamily="34" charset="0"/>
                <a:cs typeface="Arial" panose="020B0604020202020204" pitchFamily="34" charset="0"/>
              </a:rPr>
              <a:t>1: single cell sequencing data from human prefrontal cortex, major depressive disorder versus healthy controls</a:t>
            </a:r>
            <a:endParaRPr lang="de-AT" sz="240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09C4729C-D9FA-06BB-FAD5-1B42A4B8F9B2}"/>
              </a:ext>
            </a:extLst>
          </p:cNvPr>
          <p:cNvSpPr>
            <a:spLocks noGrp="1"/>
          </p:cNvSpPr>
          <p:nvPr>
            <p:ph idx="1"/>
          </p:nvPr>
        </p:nvSpPr>
        <p:spPr>
          <a:xfrm>
            <a:off x="838200" y="1352939"/>
            <a:ext cx="10515600" cy="4824024"/>
          </a:xfrm>
        </p:spPr>
        <p:txBody>
          <a:bodyPr>
            <a:noAutofit/>
          </a:bodyPr>
          <a:lstStyle/>
          <a:p>
            <a:pPr marL="0" indent="0">
              <a:lnSpc>
                <a:spcPct val="120000"/>
              </a:lnSpc>
              <a:spcBef>
                <a:spcPts val="0"/>
              </a:spcBef>
              <a:buNone/>
            </a:pPr>
            <a:r>
              <a:rPr lang="en-US" sz="1050" b="1" dirty="0">
                <a:latin typeface="Arial" panose="020B0604020202020204" pitchFamily="34" charset="0"/>
                <a:cs typeface="Arial" panose="020B0604020202020204" pitchFamily="34" charset="0"/>
              </a:rPr>
              <a:t>Computational modeling of ketamine-induced changes in gamma-band oscillations: The contribution of parvalbumin and somatostatin interneurons</a:t>
            </a:r>
          </a:p>
          <a:p>
            <a:pPr marL="0" indent="0">
              <a:lnSpc>
                <a:spcPct val="120000"/>
              </a:lnSpc>
              <a:spcBef>
                <a:spcPts val="0"/>
              </a:spcBef>
              <a:buNone/>
            </a:pPr>
            <a:r>
              <a:rPr lang="en-US" sz="1050" dirty="0">
                <a:latin typeface="Arial" panose="020B0604020202020204" pitchFamily="34" charset="0"/>
                <a:cs typeface="Arial" panose="020B0604020202020204" pitchFamily="34" charset="0"/>
              </a:rPr>
              <a:t>Analysis of MEG-data from 12 healthy participants who received sub-anesthetic doses of Ketamine in a single-blind, randomized, placebo-controlled design. Resting-state MEG-data (5 minutes, eyes closed) was recorded before and during continuous infusion of Ketamine or Placebo respectively.</a:t>
            </a:r>
          </a:p>
          <a:p>
            <a:pPr marL="0" indent="0">
              <a:lnSpc>
                <a:spcPct val="120000"/>
              </a:lnSpc>
              <a:spcBef>
                <a:spcPts val="0"/>
              </a:spcBef>
              <a:buNone/>
            </a:pPr>
            <a:endParaRPr lang="en-US" sz="1050" dirty="0">
              <a:latin typeface="Arial" panose="020B0604020202020204" pitchFamily="34" charset="0"/>
              <a:cs typeface="Arial" panose="020B0604020202020204" pitchFamily="34" charset="0"/>
            </a:endParaRPr>
          </a:p>
          <a:p>
            <a:pPr marL="0" indent="0">
              <a:lnSpc>
                <a:spcPct val="100000"/>
              </a:lnSpc>
              <a:spcBef>
                <a:spcPts val="0"/>
              </a:spcBef>
              <a:buNone/>
            </a:pPr>
            <a:r>
              <a:rPr lang="en-US" sz="1050" b="1" dirty="0">
                <a:latin typeface="Arial" panose="020B0604020202020204" pitchFamily="34" charset="0"/>
                <a:cs typeface="Arial" panose="020B0604020202020204" pitchFamily="34" charset="0"/>
              </a:rPr>
              <a:t>Results</a:t>
            </a:r>
          </a:p>
          <a:p>
            <a:pPr marL="0" indent="0">
              <a:lnSpc>
                <a:spcPct val="100000"/>
              </a:lnSpc>
              <a:spcBef>
                <a:spcPts val="0"/>
              </a:spcBef>
              <a:buNone/>
            </a:pPr>
            <a:endParaRPr lang="en-US" sz="105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050" b="1" dirty="0">
                <a:latin typeface="Arial" panose="020B0604020202020204" pitchFamily="34" charset="0"/>
                <a:cs typeface="Arial" panose="020B0604020202020204" pitchFamily="34" charset="0"/>
              </a:rPr>
              <a:t>Computational modeling of NMDA-R dysfunction</a:t>
            </a:r>
          </a:p>
          <a:p>
            <a:pPr marL="0" indent="0">
              <a:lnSpc>
                <a:spcPct val="100000"/>
              </a:lnSpc>
              <a:spcBef>
                <a:spcPts val="0"/>
              </a:spcBef>
              <a:buNone/>
            </a:pPr>
            <a:r>
              <a:rPr lang="en-US" sz="1050" dirty="0">
                <a:latin typeface="Arial" panose="020B0604020202020204" pitchFamily="34" charset="0"/>
                <a:cs typeface="Arial" panose="020B0604020202020204" pitchFamily="34" charset="0"/>
              </a:rPr>
              <a:t>Modelling effects of NMDA-R dysfunction in either PV + , SST + , VIP + , or pyramidal neurons (fitting human data and connected in microcircuits) using a generic model of cortical layer 2/3 microcircuits simulating the expected MEG signal from a volume of 1000 neurons without manipulation (baseline model) with NMDA-R conductance reductions: PV + : 60%, 40%, 20%, 10%; SST + : 100%, 80%, 60%, 40%; VIP + : 80%; pyramidal: 80%, 40%; all neuron types simultaneously: 40%.</a:t>
            </a:r>
          </a:p>
          <a:p>
            <a:pPr>
              <a:lnSpc>
                <a:spcPct val="100000"/>
              </a:lnSpc>
              <a:spcBef>
                <a:spcPts val="0"/>
              </a:spcBef>
            </a:pPr>
            <a:r>
              <a:rPr lang="en-US" sz="1050" dirty="0">
                <a:latin typeface="Arial" panose="020B0604020202020204" pitchFamily="34" charset="0"/>
                <a:cs typeface="Arial" panose="020B0604020202020204" pitchFamily="34" charset="0"/>
              </a:rPr>
              <a:t>Greater reductions on NMDA-Rs on SST+ interneurons resulted in higher increases in gamma-band power</a:t>
            </a:r>
          </a:p>
          <a:p>
            <a:pPr>
              <a:lnSpc>
                <a:spcPct val="100000"/>
              </a:lnSpc>
              <a:spcBef>
                <a:spcPts val="0"/>
              </a:spcBef>
            </a:pPr>
            <a:r>
              <a:rPr lang="en-US" sz="1050" dirty="0">
                <a:latin typeface="Arial" panose="020B0604020202020204" pitchFamily="34" charset="0"/>
                <a:cs typeface="Arial" panose="020B0604020202020204" pitchFamily="34" charset="0"/>
              </a:rPr>
              <a:t>complete removal of NMDA-Rs on SST+ interneurons leading to gamma-band power increase compared with 60% reduction of NMDA-Rs on PV+ interneurons, yet causing considerably higher variance in power between simulations, diminishing the effect size</a:t>
            </a:r>
          </a:p>
          <a:p>
            <a:pPr>
              <a:lnSpc>
                <a:spcPct val="100000"/>
              </a:lnSpc>
              <a:spcBef>
                <a:spcPts val="0"/>
              </a:spcBef>
            </a:pPr>
            <a:r>
              <a:rPr lang="en-US" sz="1050" dirty="0">
                <a:latin typeface="Arial" panose="020B0604020202020204" pitchFamily="34" charset="0"/>
                <a:cs typeface="Arial" panose="020B0604020202020204" pitchFamily="34" charset="0"/>
              </a:rPr>
              <a:t>similar magnitudes of mean power and effect sizes with 40% reduction in NMDA-R conductance between PV+ and SST+ interneurons</a:t>
            </a:r>
          </a:p>
          <a:p>
            <a:pPr>
              <a:lnSpc>
                <a:spcPct val="100000"/>
              </a:lnSpc>
              <a:spcBef>
                <a:spcPts val="0"/>
              </a:spcBef>
            </a:pPr>
            <a:r>
              <a:rPr lang="en-US" sz="1050" dirty="0">
                <a:latin typeface="Arial" panose="020B0604020202020204" pitchFamily="34" charset="0"/>
                <a:cs typeface="Arial" panose="020B0604020202020204" pitchFamily="34" charset="0"/>
              </a:rPr>
              <a:t>No increase in gamma-band power with NMDA-R conductance reductions in pyramidal neurons, VIP+ interneurons, and in all neuron types simultaneously</a:t>
            </a:r>
          </a:p>
          <a:p>
            <a:pPr>
              <a:lnSpc>
                <a:spcPct val="100000"/>
              </a:lnSpc>
              <a:spcBef>
                <a:spcPts val="0"/>
              </a:spcBef>
            </a:pPr>
            <a:r>
              <a:rPr lang="en-US" sz="1050" dirty="0">
                <a:latin typeface="Arial" panose="020B0604020202020204" pitchFamily="34" charset="0"/>
                <a:cs typeface="Arial" panose="020B0604020202020204" pitchFamily="34" charset="0"/>
              </a:rPr>
              <a:t>slope of the aperiodic component of the simulated data not flatter after NMDA-R conductance reductions in any neuron type</a:t>
            </a:r>
          </a:p>
          <a:p>
            <a:pPr>
              <a:lnSpc>
                <a:spcPct val="100000"/>
              </a:lnSpc>
              <a:spcBef>
                <a:spcPts val="0"/>
              </a:spcBef>
            </a:pPr>
            <a:r>
              <a:rPr lang="en-US" sz="1050" dirty="0">
                <a:latin typeface="Arial" panose="020B0604020202020204" pitchFamily="34" charset="0"/>
                <a:cs typeface="Arial" panose="020B0604020202020204" pitchFamily="34" charset="0"/>
              </a:rPr>
              <a:t>power increase of the aperiodic component of the data across the whole examined spectrum (3–90 Hz), not reproduced in a flattening of the aperiodic spectrum in MEG-data following Ketamine administration</a:t>
            </a:r>
          </a:p>
          <a:p>
            <a:pPr>
              <a:lnSpc>
                <a:spcPct val="100000"/>
              </a:lnSpc>
              <a:spcBef>
                <a:spcPts val="0"/>
              </a:spcBef>
            </a:pPr>
            <a:r>
              <a:rPr lang="en-US" sz="1050" dirty="0">
                <a:latin typeface="Arial" panose="020B0604020202020204" pitchFamily="34" charset="0"/>
                <a:cs typeface="Arial" panose="020B0604020202020204" pitchFamily="34" charset="0"/>
              </a:rPr>
              <a:t>NMDA-R conductance reductions in pyramidal, PV + , SST + , and VIP+ neurons result in mean spike rate changes across neuron types</a:t>
            </a:r>
          </a:p>
          <a:p>
            <a:pPr>
              <a:lnSpc>
                <a:spcPct val="100000"/>
              </a:lnSpc>
              <a:spcBef>
                <a:spcPts val="0"/>
              </a:spcBef>
            </a:pPr>
            <a:r>
              <a:rPr lang="en-US" sz="1050" dirty="0">
                <a:latin typeface="Arial" panose="020B0604020202020204" pitchFamily="34" charset="0"/>
                <a:cs typeface="Arial" panose="020B0604020202020204" pitchFamily="34" charset="0"/>
              </a:rPr>
              <a:t>NMDA-R conductance reductions in PV+ interneurons or SST+ interneurons lead to elevated firing of pyramidal neurons (i.e., increased excitation)</a:t>
            </a:r>
          </a:p>
          <a:p>
            <a:pPr>
              <a:lnSpc>
                <a:spcPct val="100000"/>
              </a:lnSpc>
              <a:spcBef>
                <a:spcPts val="0"/>
              </a:spcBef>
            </a:pPr>
            <a:r>
              <a:rPr lang="en-US" sz="1050" dirty="0">
                <a:latin typeface="Arial" panose="020B0604020202020204" pitchFamily="34" charset="0"/>
                <a:cs typeface="Arial" panose="020B0604020202020204" pitchFamily="34" charset="0"/>
              </a:rPr>
              <a:t>Pyramidal cell spike rates decrease when NMDA-Rs in VIP+ or pyramidal cells are affected</a:t>
            </a:r>
            <a:endParaRPr lang="de-AT" sz="10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778777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6409</Words>
  <Application>Microsoft Office PowerPoint</Application>
  <PresentationFormat>Breitbild</PresentationFormat>
  <Paragraphs>250</Paragraphs>
  <Slides>17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17</vt:i4>
      </vt:variant>
    </vt:vector>
  </HeadingPairs>
  <TitlesOfParts>
    <vt:vector size="23" baseType="lpstr">
      <vt:lpstr>Aptos</vt:lpstr>
      <vt:lpstr>Aptos Display</vt:lpstr>
      <vt:lpstr>Arial</vt:lpstr>
      <vt:lpstr>Courier New</vt:lpstr>
      <vt:lpstr>Office</vt:lpstr>
      <vt:lpstr>Worksheet</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lpstr>GROUP TOPIC 1: single cell sequencing data from human prefrontal cortex, major depressive disorder versus healthy controls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Wolfgang Pell</dc:creator>
  <cp:lastModifiedBy>Wolfgang Pell</cp:lastModifiedBy>
  <cp:revision>3</cp:revision>
  <dcterms:created xsi:type="dcterms:W3CDTF">2025-11-18T09:59:59Z</dcterms:created>
  <dcterms:modified xsi:type="dcterms:W3CDTF">2025-12-16T13:53:17Z</dcterms:modified>
</cp:coreProperties>
</file>